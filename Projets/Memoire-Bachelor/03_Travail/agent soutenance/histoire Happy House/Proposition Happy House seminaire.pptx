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9753600" cy="7315200"/>
  <p:notesSz cx="6858000" cy="9144000"/>
  <p:embeddedFontLst>
    <p:embeddedFont>
      <p:font typeface="Cocomat Pro" charset="1" panose="00000500000000000000"/>
      <p:regular r:id="rId10"/>
    </p:embeddedFont>
    <p:embeddedFont>
      <p:font typeface="TT Hoves Bold" charset="1" panose="02000003020000060003"/>
      <p:regular r:id="rId11"/>
    </p:embeddedFont>
    <p:embeddedFont>
      <p:font typeface="TT Hoves Italics" charset="1" panose="02000003020000060003"/>
      <p:regular r:id="rId12"/>
    </p:embeddedFont>
    <p:embeddedFont>
      <p:font typeface="TT Hoves" charset="1" panose="02000003020000060003"/>
      <p:regular r:id="rId13"/>
    </p:embeddedFont>
    <p:embeddedFont>
      <p:font typeface="Decalotype Bold" charset="1" panose="00000800000000000000"/>
      <p:regular r:id="rId14"/>
    </p:embeddedFont>
    <p:embeddedFont>
      <p:font typeface="Decalotype Italics" charset="1" panose="0000050000000000000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calendly.com/z-guffroy-organisetonseminaire/appel-de-decouverte-zoe" TargetMode="External" Type="http://schemas.openxmlformats.org/officeDocument/2006/relationships/hyperlink"/><Relationship Id="rId11" Target="https://bit.ly/calendly-lurthaler" TargetMode="External" Type="http://schemas.openxmlformats.org/officeDocument/2006/relationships/hyperlink"/><Relationship Id="rId12" Target="https://urlz.fr/uLUG" TargetMode="External" Type="http://schemas.openxmlformats.org/officeDocument/2006/relationships/hyperlink"/><Relationship Id="rId2" Target="../media/image7.jpeg" Type="http://schemas.openxmlformats.org/officeDocument/2006/relationships/image"/><Relationship Id="rId3" Target="../media/image8.jpeg" Type="http://schemas.openxmlformats.org/officeDocument/2006/relationships/image"/><Relationship Id="rId4" Target="../media/image9.jpeg" Type="http://schemas.openxmlformats.org/officeDocument/2006/relationships/image"/><Relationship Id="rId5" Target="../media/image10.jpeg" Type="http://schemas.openxmlformats.org/officeDocument/2006/relationships/image"/><Relationship Id="rId6" Target="../media/image11.jpeg" Type="http://schemas.openxmlformats.org/officeDocument/2006/relationships/image"/><Relationship Id="rId7" Target="../media/image12.jpeg" Type="http://schemas.openxmlformats.org/officeDocument/2006/relationships/image"/><Relationship Id="rId8" Target="https://calendly.com/app/scheduling/meeting_types/user/me" TargetMode="External" Type="http://schemas.openxmlformats.org/officeDocument/2006/relationships/hyperlink"/><Relationship Id="rId9" Target="https://urlz.fr/uFEI" TargetMode="External" Type="http://schemas.openxmlformats.org/officeDocument/2006/relationships/hyperlink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calendly.com/z-guffroy-organisetonseminaire/appel-de-decouverte-zoe" TargetMode="External" Type="http://schemas.openxmlformats.org/officeDocument/2006/relationships/hyperlink"/><Relationship Id="rId11" Target="https://bit.ly/calendly-lurthaler" TargetMode="External" Type="http://schemas.openxmlformats.org/officeDocument/2006/relationships/hyperlink"/><Relationship Id="rId12" Target="https://urlz.fr/uLUG" TargetMode="External" Type="http://schemas.openxmlformats.org/officeDocument/2006/relationships/hyperlink"/><Relationship Id="rId2" Target="../media/image7.jpeg" Type="http://schemas.openxmlformats.org/officeDocument/2006/relationships/image"/><Relationship Id="rId3" Target="../media/image8.jpeg" Type="http://schemas.openxmlformats.org/officeDocument/2006/relationships/image"/><Relationship Id="rId4" Target="../media/image9.jpeg" Type="http://schemas.openxmlformats.org/officeDocument/2006/relationships/image"/><Relationship Id="rId5" Target="../media/image10.jpeg" Type="http://schemas.openxmlformats.org/officeDocument/2006/relationships/image"/><Relationship Id="rId6" Target="../media/image11.jpeg" Type="http://schemas.openxmlformats.org/officeDocument/2006/relationships/image"/><Relationship Id="rId7" Target="../media/image12.jpeg" Type="http://schemas.openxmlformats.org/officeDocument/2006/relationships/image"/><Relationship Id="rId8" Target="https://calendly.com/app/scheduling/meeting_types/user/me" TargetMode="External" Type="http://schemas.openxmlformats.org/officeDocument/2006/relationships/hyperlink"/><Relationship Id="rId9" Target="https://urlz.fr/uFEI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819343" y="1813343"/>
            <a:ext cx="1481845" cy="1943031"/>
          </a:xfrm>
          <a:custGeom>
            <a:avLst/>
            <a:gdLst/>
            <a:ahLst/>
            <a:cxnLst/>
            <a:rect r="r" b="b" t="t" l="l"/>
            <a:pathLst>
              <a:path h="1943031" w="1481845">
                <a:moveTo>
                  <a:pt x="0" y="0"/>
                </a:moveTo>
                <a:lnTo>
                  <a:pt x="1481845" y="0"/>
                </a:lnTo>
                <a:lnTo>
                  <a:pt x="1481845" y="1943031"/>
                </a:lnTo>
                <a:lnTo>
                  <a:pt x="0" y="19430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149182" y="1978845"/>
            <a:ext cx="1622650" cy="1612027"/>
          </a:xfrm>
          <a:custGeom>
            <a:avLst/>
            <a:gdLst/>
            <a:ahLst/>
            <a:cxnLst/>
            <a:rect r="r" b="b" t="t" l="l"/>
            <a:pathLst>
              <a:path h="1612027" w="1622650">
                <a:moveTo>
                  <a:pt x="0" y="0"/>
                </a:moveTo>
                <a:lnTo>
                  <a:pt x="1622650" y="0"/>
                </a:lnTo>
                <a:lnTo>
                  <a:pt x="1622650" y="1612027"/>
                </a:lnTo>
                <a:lnTo>
                  <a:pt x="0" y="16120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928797" y="389702"/>
            <a:ext cx="3944340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>
                <a:solidFill>
                  <a:srgbClr val="262C61"/>
                </a:solidFill>
                <a:latin typeface="Cocomat Pro"/>
                <a:ea typeface="Cocomat Pro"/>
                <a:cs typeface="Cocomat Pro"/>
                <a:sym typeface="Cocomat Pro"/>
              </a:rPr>
              <a:t>Partenariat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40900" y="4220759"/>
            <a:ext cx="4350248" cy="159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05488" indent="-152744" lvl="1">
              <a:lnSpc>
                <a:spcPts val="1697"/>
              </a:lnSpc>
              <a:buFont typeface="Arial"/>
              <a:buChar char="•"/>
            </a:pPr>
            <a:r>
              <a:rPr lang="en-US" b="true" sz="1414">
                <a:solidFill>
                  <a:srgbClr val="262C61"/>
                </a:solidFill>
                <a:latin typeface="TT Hoves Bold"/>
                <a:ea typeface="TT Hoves Bold"/>
                <a:cs typeface="TT Hoves Bold"/>
                <a:sym typeface="TT Hoves Bold"/>
              </a:rPr>
              <a:t>Un réseau de lieux d’exception</a:t>
            </a:r>
          </a:p>
          <a:p>
            <a:pPr algn="l">
              <a:lnSpc>
                <a:spcPts val="1697"/>
              </a:lnSpc>
              <a:spcBef>
                <a:spcPct val="0"/>
              </a:spcBef>
            </a:pPr>
          </a:p>
          <a:p>
            <a:pPr algn="l" marL="305488" indent="-152744" lvl="1">
              <a:lnSpc>
                <a:spcPts val="1697"/>
              </a:lnSpc>
              <a:buFont typeface="Arial"/>
              <a:buChar char="•"/>
            </a:pPr>
            <a:r>
              <a:rPr lang="en-US" b="true" sz="1414">
                <a:solidFill>
                  <a:srgbClr val="262C61"/>
                </a:solidFill>
                <a:latin typeface="TT Hoves Bold"/>
                <a:ea typeface="TT Hoves Bold"/>
                <a:cs typeface="TT Hoves Bold"/>
                <a:sym typeface="TT Hoves Bold"/>
              </a:rPr>
              <a:t>Une visibilité ciblée et qualitative</a:t>
            </a:r>
          </a:p>
          <a:p>
            <a:pPr algn="l">
              <a:lnSpc>
                <a:spcPts val="1697"/>
              </a:lnSpc>
              <a:spcBef>
                <a:spcPct val="0"/>
              </a:spcBef>
            </a:pPr>
            <a:r>
              <a:rPr lang="en-US" b="true" sz="1414">
                <a:solidFill>
                  <a:srgbClr val="262C61"/>
                </a:solidFill>
                <a:latin typeface="TT Hoves Bold"/>
                <a:ea typeface="TT Hoves Bold"/>
                <a:cs typeface="TT Hoves Bold"/>
                <a:sym typeface="TT Hoves Bold"/>
              </a:rPr>
              <a:t> </a:t>
            </a:r>
          </a:p>
          <a:p>
            <a:pPr algn="l" marL="305488" indent="-152744" lvl="1">
              <a:lnSpc>
                <a:spcPts val="1697"/>
              </a:lnSpc>
              <a:buFont typeface="Arial"/>
              <a:buChar char="•"/>
            </a:pPr>
            <a:r>
              <a:rPr lang="en-US" b="true" sz="1414">
                <a:solidFill>
                  <a:srgbClr val="262C61"/>
                </a:solidFill>
                <a:latin typeface="TT Hoves Bold"/>
                <a:ea typeface="TT Hoves Bold"/>
                <a:cs typeface="TT Hoves Bold"/>
                <a:sym typeface="TT Hoves Bold"/>
              </a:rPr>
              <a:t>Une communauté engagée et collaborative</a:t>
            </a:r>
          </a:p>
          <a:p>
            <a:pPr algn="l">
              <a:lnSpc>
                <a:spcPts val="1697"/>
              </a:lnSpc>
              <a:spcBef>
                <a:spcPct val="0"/>
              </a:spcBef>
            </a:pPr>
          </a:p>
          <a:p>
            <a:pPr algn="l" marL="305488" indent="-152744" lvl="1">
              <a:lnSpc>
                <a:spcPts val="1697"/>
              </a:lnSpc>
              <a:buFont typeface="Arial"/>
              <a:buChar char="•"/>
            </a:pPr>
            <a:r>
              <a:rPr lang="en-US" b="true" sz="1414">
                <a:solidFill>
                  <a:srgbClr val="262C61"/>
                </a:solidFill>
                <a:latin typeface="TT Hoves Bold"/>
                <a:ea typeface="TT Hoves Bold"/>
                <a:cs typeface="TT Hoves Bold"/>
                <a:sym typeface="TT Hoves Bold"/>
              </a:rPr>
              <a:t>Un accompagnement au développement</a:t>
            </a:r>
          </a:p>
          <a:p>
            <a:pPr algn="l">
              <a:lnSpc>
                <a:spcPts val="1097"/>
              </a:lnSpc>
              <a:spcBef>
                <a:spcPct val="0"/>
              </a:spcBef>
            </a:pPr>
            <a:r>
              <a:rPr lang="en-US" b="true" sz="914">
                <a:solidFill>
                  <a:srgbClr val="262C61"/>
                </a:solidFill>
                <a:latin typeface="TT Hoves Bold"/>
                <a:ea typeface="TT Hoves Bold"/>
                <a:cs typeface="TT Hoves Bold"/>
                <a:sym typeface="TT Hoves Bold"/>
              </a:rPr>
              <a:t>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504358" y="4220759"/>
            <a:ext cx="4249242" cy="159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05488" indent="-152744" lvl="1">
              <a:lnSpc>
                <a:spcPts val="1697"/>
              </a:lnSpc>
              <a:buFont typeface="Arial"/>
              <a:buChar char="•"/>
            </a:pPr>
            <a:r>
              <a:rPr lang="en-US" b="true" sz="1414">
                <a:solidFill>
                  <a:srgbClr val="262C61"/>
                </a:solidFill>
                <a:latin typeface="TT Hoves Bold"/>
                <a:ea typeface="TT Hoves Bold"/>
                <a:cs typeface="TT Hoves Bold"/>
                <a:sym typeface="TT Hoves Bold"/>
              </a:rPr>
              <a:t>Visibilité ciblée B2B</a:t>
            </a:r>
          </a:p>
          <a:p>
            <a:pPr algn="l">
              <a:lnSpc>
                <a:spcPts val="1697"/>
              </a:lnSpc>
              <a:spcBef>
                <a:spcPct val="0"/>
              </a:spcBef>
            </a:pPr>
          </a:p>
          <a:p>
            <a:pPr algn="l" marL="305488" indent="-152744" lvl="1">
              <a:lnSpc>
                <a:spcPts val="1697"/>
              </a:lnSpc>
              <a:buFont typeface="Arial"/>
              <a:buChar char="•"/>
            </a:pPr>
            <a:r>
              <a:rPr lang="en-US" b="true" sz="1414">
                <a:solidFill>
                  <a:srgbClr val="262C61"/>
                </a:solidFill>
                <a:latin typeface="TT Hoves Bold"/>
                <a:ea typeface="TT Hoves Bold"/>
                <a:cs typeface="TT Hoves Bold"/>
                <a:sym typeface="TT Hoves Bold"/>
              </a:rPr>
              <a:t>Optimisation des coût de prospection</a:t>
            </a:r>
          </a:p>
          <a:p>
            <a:pPr algn="l">
              <a:lnSpc>
                <a:spcPts val="1697"/>
              </a:lnSpc>
              <a:spcBef>
                <a:spcPct val="0"/>
              </a:spcBef>
            </a:pPr>
            <a:r>
              <a:rPr lang="en-US" b="true" sz="1414">
                <a:solidFill>
                  <a:srgbClr val="262C61"/>
                </a:solidFill>
                <a:latin typeface="TT Hoves Bold"/>
                <a:ea typeface="TT Hoves Bold"/>
                <a:cs typeface="TT Hoves Bold"/>
                <a:sym typeface="TT Hoves Bold"/>
              </a:rPr>
              <a:t> </a:t>
            </a:r>
          </a:p>
          <a:p>
            <a:pPr algn="l" marL="305488" indent="-152744" lvl="1">
              <a:lnSpc>
                <a:spcPts val="1697"/>
              </a:lnSpc>
              <a:buFont typeface="Arial"/>
              <a:buChar char="•"/>
            </a:pPr>
            <a:r>
              <a:rPr lang="en-US" b="true" sz="1414">
                <a:solidFill>
                  <a:srgbClr val="262C61"/>
                </a:solidFill>
                <a:latin typeface="TT Hoves Bold"/>
                <a:ea typeface="TT Hoves Bold"/>
                <a:cs typeface="TT Hoves Bold"/>
                <a:sym typeface="TT Hoves Bold"/>
              </a:rPr>
              <a:t>Chat interne partenaires évènementiel</a:t>
            </a:r>
          </a:p>
          <a:p>
            <a:pPr algn="l">
              <a:lnSpc>
                <a:spcPts val="1697"/>
              </a:lnSpc>
              <a:spcBef>
                <a:spcPct val="0"/>
              </a:spcBef>
            </a:pPr>
          </a:p>
          <a:p>
            <a:pPr algn="l" marL="305488" indent="-152744" lvl="1">
              <a:lnSpc>
                <a:spcPts val="1697"/>
              </a:lnSpc>
              <a:buFont typeface="Arial"/>
              <a:buChar char="•"/>
            </a:pPr>
            <a:r>
              <a:rPr lang="en-US" b="true" sz="1414">
                <a:solidFill>
                  <a:srgbClr val="262C61"/>
                </a:solidFill>
                <a:latin typeface="TT Hoves Bold"/>
                <a:ea typeface="TT Hoves Bold"/>
                <a:cs typeface="TT Hoves Bold"/>
                <a:sym typeface="TT Hoves Bold"/>
              </a:rPr>
              <a:t>CA supplémentaire en semaine</a:t>
            </a:r>
          </a:p>
          <a:p>
            <a:pPr algn="l">
              <a:lnSpc>
                <a:spcPts val="1097"/>
              </a:lnSpc>
              <a:spcBef>
                <a:spcPct val="0"/>
              </a:spcBef>
            </a:pPr>
            <a:r>
              <a:rPr lang="en-US" b="true" sz="914">
                <a:solidFill>
                  <a:srgbClr val="262C61"/>
                </a:solidFill>
                <a:latin typeface="TT Hoves Bold"/>
                <a:ea typeface="TT Hoves Bold"/>
                <a:cs typeface="TT Hoves Bold"/>
                <a:sym typeface="TT Hoves Bold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9390" y="0"/>
            <a:ext cx="6702425" cy="7540228"/>
          </a:xfrm>
          <a:custGeom>
            <a:avLst/>
            <a:gdLst/>
            <a:ahLst/>
            <a:cxnLst/>
            <a:rect r="r" b="b" t="t" l="l"/>
            <a:pathLst>
              <a:path h="7540228" w="6702425">
                <a:moveTo>
                  <a:pt x="0" y="0"/>
                </a:moveTo>
                <a:lnTo>
                  <a:pt x="6702425" y="0"/>
                </a:lnTo>
                <a:lnTo>
                  <a:pt x="6702425" y="7540228"/>
                </a:lnTo>
                <a:lnTo>
                  <a:pt x="0" y="75402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</a:blip>
            <a:stretch>
              <a:fillRect l="0" t="0" r="-68855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28660" y="1801910"/>
            <a:ext cx="2092599" cy="4136702"/>
          </a:xfrm>
          <a:custGeom>
            <a:avLst/>
            <a:gdLst/>
            <a:ahLst/>
            <a:cxnLst/>
            <a:rect r="r" b="b" t="t" l="l"/>
            <a:pathLst>
              <a:path h="4136702" w="2092599">
                <a:moveTo>
                  <a:pt x="0" y="0"/>
                </a:moveTo>
                <a:lnTo>
                  <a:pt x="2092600" y="0"/>
                </a:lnTo>
                <a:lnTo>
                  <a:pt x="2092600" y="4136702"/>
                </a:lnTo>
                <a:lnTo>
                  <a:pt x="0" y="41367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1641" t="-1297" r="-785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528178" y="3145577"/>
            <a:ext cx="2048227" cy="2310979"/>
            <a:chOff x="0" y="0"/>
            <a:chExt cx="809384" cy="91321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09384" cy="913214"/>
            </a:xfrm>
            <a:custGeom>
              <a:avLst/>
              <a:gdLst/>
              <a:ahLst/>
              <a:cxnLst/>
              <a:rect r="r" b="b" t="t" l="l"/>
              <a:pathLst>
                <a:path h="913214" w="809384">
                  <a:moveTo>
                    <a:pt x="0" y="0"/>
                  </a:moveTo>
                  <a:lnTo>
                    <a:pt x="809384" y="0"/>
                  </a:lnTo>
                  <a:lnTo>
                    <a:pt x="809384" y="913214"/>
                  </a:lnTo>
                  <a:lnTo>
                    <a:pt x="0" y="91321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809384" cy="932264"/>
            </a:xfrm>
            <a:prstGeom prst="rect">
              <a:avLst/>
            </a:prstGeom>
          </p:spPr>
          <p:txBody>
            <a:bodyPr anchor="ctr" rtlCol="false" tIns="75925" lIns="75925" bIns="75925" rIns="75925"/>
            <a:lstStyle/>
            <a:p>
              <a:pPr algn="ctr">
                <a:lnSpc>
                  <a:spcPts val="1006"/>
                </a:lnSpc>
              </a:pPr>
            </a:p>
          </p:txBody>
        </p:sp>
      </p:grpSp>
      <p:sp>
        <p:nvSpPr>
          <p:cNvPr name="AutoShape 7" id="7"/>
          <p:cNvSpPr/>
          <p:nvPr/>
        </p:nvSpPr>
        <p:spPr>
          <a:xfrm>
            <a:off x="678475" y="3381289"/>
            <a:ext cx="0" cy="1910022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520255" y="1782684"/>
            <a:ext cx="2065037" cy="1362893"/>
            <a:chOff x="0" y="0"/>
            <a:chExt cx="832197" cy="54923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32197" cy="549237"/>
            </a:xfrm>
            <a:custGeom>
              <a:avLst/>
              <a:gdLst/>
              <a:ahLst/>
              <a:cxnLst/>
              <a:rect r="r" b="b" t="t" l="l"/>
              <a:pathLst>
                <a:path h="549237" w="832197">
                  <a:moveTo>
                    <a:pt x="0" y="0"/>
                  </a:moveTo>
                  <a:lnTo>
                    <a:pt x="832197" y="0"/>
                  </a:lnTo>
                  <a:lnTo>
                    <a:pt x="832197" y="549237"/>
                  </a:lnTo>
                  <a:lnTo>
                    <a:pt x="0" y="549237"/>
                  </a:lnTo>
                  <a:close/>
                </a:path>
              </a:pathLst>
            </a:custGeom>
            <a:solidFill>
              <a:srgbClr val="D8A80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832197" cy="568287"/>
            </a:xfrm>
            <a:prstGeom prst="rect">
              <a:avLst/>
            </a:prstGeom>
          </p:spPr>
          <p:txBody>
            <a:bodyPr anchor="ctr" rtlCol="false" tIns="39059" lIns="39059" bIns="39059" rIns="39059"/>
            <a:lstStyle/>
            <a:p>
              <a:pPr algn="ctr">
                <a:lnSpc>
                  <a:spcPts val="1785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28660" y="5437229"/>
            <a:ext cx="2048227" cy="445798"/>
            <a:chOff x="0" y="0"/>
            <a:chExt cx="825422" cy="17965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25422" cy="179654"/>
            </a:xfrm>
            <a:custGeom>
              <a:avLst/>
              <a:gdLst/>
              <a:ahLst/>
              <a:cxnLst/>
              <a:rect r="r" b="b" t="t" l="l"/>
              <a:pathLst>
                <a:path h="179654" w="825422">
                  <a:moveTo>
                    <a:pt x="0" y="0"/>
                  </a:moveTo>
                  <a:lnTo>
                    <a:pt x="825422" y="0"/>
                  </a:lnTo>
                  <a:lnTo>
                    <a:pt x="825422" y="179654"/>
                  </a:lnTo>
                  <a:lnTo>
                    <a:pt x="0" y="179654"/>
                  </a:lnTo>
                  <a:close/>
                </a:path>
              </a:pathLst>
            </a:custGeom>
            <a:solidFill>
              <a:srgbClr val="F0F0F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825422" cy="198704"/>
            </a:xfrm>
            <a:prstGeom prst="rect">
              <a:avLst/>
            </a:prstGeom>
          </p:spPr>
          <p:txBody>
            <a:bodyPr anchor="ctr" rtlCol="false" tIns="39059" lIns="39059" bIns="39059" rIns="39059"/>
            <a:lstStyle/>
            <a:p>
              <a:pPr algn="ctr">
                <a:lnSpc>
                  <a:spcPts val="1785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76481" y="2892417"/>
            <a:ext cx="949160" cy="166389"/>
            <a:chOff x="0" y="0"/>
            <a:chExt cx="476575" cy="8354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76575" cy="83544"/>
            </a:xfrm>
            <a:custGeom>
              <a:avLst/>
              <a:gdLst/>
              <a:ahLst/>
              <a:cxnLst/>
              <a:rect r="r" b="b" t="t" l="l"/>
              <a:pathLst>
                <a:path h="83544" w="476575">
                  <a:moveTo>
                    <a:pt x="41772" y="0"/>
                  </a:moveTo>
                  <a:lnTo>
                    <a:pt x="434803" y="0"/>
                  </a:lnTo>
                  <a:cubicBezTo>
                    <a:pt x="457873" y="0"/>
                    <a:pt x="476575" y="18702"/>
                    <a:pt x="476575" y="41772"/>
                  </a:cubicBezTo>
                  <a:lnTo>
                    <a:pt x="476575" y="41772"/>
                  </a:lnTo>
                  <a:cubicBezTo>
                    <a:pt x="476575" y="64842"/>
                    <a:pt x="457873" y="83544"/>
                    <a:pt x="434803" y="83544"/>
                  </a:cubicBezTo>
                  <a:lnTo>
                    <a:pt x="41772" y="83544"/>
                  </a:lnTo>
                  <a:cubicBezTo>
                    <a:pt x="18702" y="83544"/>
                    <a:pt x="0" y="64842"/>
                    <a:pt x="0" y="41772"/>
                  </a:cubicBezTo>
                  <a:lnTo>
                    <a:pt x="0" y="41772"/>
                  </a:lnTo>
                  <a:cubicBezTo>
                    <a:pt x="0" y="18702"/>
                    <a:pt x="18702" y="0"/>
                    <a:pt x="41772" y="0"/>
                  </a:cubicBezTo>
                  <a:close/>
                </a:path>
              </a:pathLst>
            </a:custGeom>
            <a:solidFill>
              <a:srgbClr val="FFFFFF">
                <a:alpha val="57647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476575" cy="121644"/>
            </a:xfrm>
            <a:prstGeom prst="rect">
              <a:avLst/>
            </a:prstGeom>
          </p:spPr>
          <p:txBody>
            <a:bodyPr anchor="ctr" rtlCol="false" tIns="63444" lIns="63444" bIns="63444" rIns="63444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2730458" y="1801910"/>
            <a:ext cx="2092599" cy="4136702"/>
          </a:xfrm>
          <a:custGeom>
            <a:avLst/>
            <a:gdLst/>
            <a:ahLst/>
            <a:cxnLst/>
            <a:rect r="r" b="b" t="t" l="l"/>
            <a:pathLst>
              <a:path h="4136702" w="2092599">
                <a:moveTo>
                  <a:pt x="0" y="0"/>
                </a:moveTo>
                <a:lnTo>
                  <a:pt x="2092599" y="0"/>
                </a:lnTo>
                <a:lnTo>
                  <a:pt x="2092599" y="4136702"/>
                </a:lnTo>
                <a:lnTo>
                  <a:pt x="0" y="41367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1641" t="-1297" r="-785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2752644" y="3103860"/>
            <a:ext cx="2048227" cy="2310979"/>
            <a:chOff x="0" y="0"/>
            <a:chExt cx="809384" cy="91321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09384" cy="913214"/>
            </a:xfrm>
            <a:custGeom>
              <a:avLst/>
              <a:gdLst/>
              <a:ahLst/>
              <a:cxnLst/>
              <a:rect r="r" b="b" t="t" l="l"/>
              <a:pathLst>
                <a:path h="913214" w="809384">
                  <a:moveTo>
                    <a:pt x="0" y="0"/>
                  </a:moveTo>
                  <a:lnTo>
                    <a:pt x="809384" y="0"/>
                  </a:lnTo>
                  <a:lnTo>
                    <a:pt x="809384" y="913214"/>
                  </a:lnTo>
                  <a:lnTo>
                    <a:pt x="0" y="91321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809384" cy="932264"/>
            </a:xfrm>
            <a:prstGeom prst="rect">
              <a:avLst/>
            </a:prstGeom>
          </p:spPr>
          <p:txBody>
            <a:bodyPr anchor="ctr" rtlCol="false" tIns="75925" lIns="75925" bIns="75925" rIns="75925"/>
            <a:lstStyle/>
            <a:p>
              <a:pPr algn="ctr">
                <a:lnSpc>
                  <a:spcPts val="1006"/>
                </a:lnSpc>
              </a:pPr>
            </a:p>
          </p:txBody>
        </p:sp>
      </p:grpSp>
      <p:sp>
        <p:nvSpPr>
          <p:cNvPr name="AutoShape 21" id="21"/>
          <p:cNvSpPr/>
          <p:nvPr/>
        </p:nvSpPr>
        <p:spPr>
          <a:xfrm>
            <a:off x="2880272" y="3381289"/>
            <a:ext cx="0" cy="1910022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2" id="22"/>
          <p:cNvGrpSpPr/>
          <p:nvPr/>
        </p:nvGrpSpPr>
        <p:grpSpPr>
          <a:xfrm rot="0">
            <a:off x="2745192" y="1772750"/>
            <a:ext cx="2063132" cy="1362893"/>
            <a:chOff x="0" y="0"/>
            <a:chExt cx="831429" cy="54923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31429" cy="549237"/>
            </a:xfrm>
            <a:custGeom>
              <a:avLst/>
              <a:gdLst/>
              <a:ahLst/>
              <a:cxnLst/>
              <a:rect r="r" b="b" t="t" l="l"/>
              <a:pathLst>
                <a:path h="549237" w="831429">
                  <a:moveTo>
                    <a:pt x="0" y="0"/>
                  </a:moveTo>
                  <a:lnTo>
                    <a:pt x="831429" y="0"/>
                  </a:lnTo>
                  <a:lnTo>
                    <a:pt x="831429" y="549237"/>
                  </a:lnTo>
                  <a:lnTo>
                    <a:pt x="0" y="549237"/>
                  </a:lnTo>
                  <a:close/>
                </a:path>
              </a:pathLst>
            </a:custGeom>
            <a:solidFill>
              <a:srgbClr val="262C61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831429" cy="568287"/>
            </a:xfrm>
            <a:prstGeom prst="rect">
              <a:avLst/>
            </a:prstGeom>
          </p:spPr>
          <p:txBody>
            <a:bodyPr anchor="ctr" rtlCol="false" tIns="39059" lIns="39059" bIns="39059" rIns="39059"/>
            <a:lstStyle/>
            <a:p>
              <a:pPr algn="ctr">
                <a:lnSpc>
                  <a:spcPts val="1785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2731146" y="5456556"/>
            <a:ext cx="2048227" cy="445798"/>
            <a:chOff x="0" y="0"/>
            <a:chExt cx="825422" cy="17965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25422" cy="179654"/>
            </a:xfrm>
            <a:custGeom>
              <a:avLst/>
              <a:gdLst/>
              <a:ahLst/>
              <a:cxnLst/>
              <a:rect r="r" b="b" t="t" l="l"/>
              <a:pathLst>
                <a:path h="179654" w="825422">
                  <a:moveTo>
                    <a:pt x="0" y="0"/>
                  </a:moveTo>
                  <a:lnTo>
                    <a:pt x="825422" y="0"/>
                  </a:lnTo>
                  <a:lnTo>
                    <a:pt x="825422" y="179654"/>
                  </a:lnTo>
                  <a:lnTo>
                    <a:pt x="0" y="179654"/>
                  </a:lnTo>
                  <a:close/>
                </a:path>
              </a:pathLst>
            </a:custGeom>
            <a:solidFill>
              <a:srgbClr val="F0F0F0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825422" cy="198704"/>
            </a:xfrm>
            <a:prstGeom prst="rect">
              <a:avLst/>
            </a:prstGeom>
          </p:spPr>
          <p:txBody>
            <a:bodyPr anchor="ctr" rtlCol="false" tIns="39059" lIns="39059" bIns="39059" rIns="39059"/>
            <a:lstStyle/>
            <a:p>
              <a:pPr algn="ctr">
                <a:lnSpc>
                  <a:spcPts val="1785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3278279" y="2892417"/>
            <a:ext cx="949160" cy="166389"/>
            <a:chOff x="0" y="0"/>
            <a:chExt cx="476575" cy="8354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76575" cy="83544"/>
            </a:xfrm>
            <a:custGeom>
              <a:avLst/>
              <a:gdLst/>
              <a:ahLst/>
              <a:cxnLst/>
              <a:rect r="r" b="b" t="t" l="l"/>
              <a:pathLst>
                <a:path h="83544" w="476575">
                  <a:moveTo>
                    <a:pt x="41772" y="0"/>
                  </a:moveTo>
                  <a:lnTo>
                    <a:pt x="434803" y="0"/>
                  </a:lnTo>
                  <a:cubicBezTo>
                    <a:pt x="457873" y="0"/>
                    <a:pt x="476575" y="18702"/>
                    <a:pt x="476575" y="41772"/>
                  </a:cubicBezTo>
                  <a:lnTo>
                    <a:pt x="476575" y="41772"/>
                  </a:lnTo>
                  <a:cubicBezTo>
                    <a:pt x="476575" y="64842"/>
                    <a:pt x="457873" y="83544"/>
                    <a:pt x="434803" y="83544"/>
                  </a:cubicBezTo>
                  <a:lnTo>
                    <a:pt x="41772" y="83544"/>
                  </a:lnTo>
                  <a:cubicBezTo>
                    <a:pt x="18702" y="83544"/>
                    <a:pt x="0" y="64842"/>
                    <a:pt x="0" y="41772"/>
                  </a:cubicBezTo>
                  <a:lnTo>
                    <a:pt x="0" y="41772"/>
                  </a:lnTo>
                  <a:cubicBezTo>
                    <a:pt x="0" y="18702"/>
                    <a:pt x="18702" y="0"/>
                    <a:pt x="41772" y="0"/>
                  </a:cubicBezTo>
                  <a:close/>
                </a:path>
              </a:pathLst>
            </a:custGeom>
            <a:solidFill>
              <a:srgbClr val="FFFFFF">
                <a:alpha val="57647"/>
              </a:srgbClr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476575" cy="121644"/>
            </a:xfrm>
            <a:prstGeom prst="rect">
              <a:avLst/>
            </a:prstGeom>
          </p:spPr>
          <p:txBody>
            <a:bodyPr anchor="ctr" rtlCol="false" tIns="63444" lIns="63444" bIns="63444" rIns="63444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Freeform 31" id="31"/>
          <p:cNvSpPr/>
          <p:nvPr/>
        </p:nvSpPr>
        <p:spPr>
          <a:xfrm flipH="false" flipV="false" rot="0">
            <a:off x="4932256" y="1801910"/>
            <a:ext cx="2092599" cy="4136702"/>
          </a:xfrm>
          <a:custGeom>
            <a:avLst/>
            <a:gdLst/>
            <a:ahLst/>
            <a:cxnLst/>
            <a:rect r="r" b="b" t="t" l="l"/>
            <a:pathLst>
              <a:path h="4136702" w="2092599">
                <a:moveTo>
                  <a:pt x="0" y="0"/>
                </a:moveTo>
                <a:lnTo>
                  <a:pt x="2092599" y="0"/>
                </a:lnTo>
                <a:lnTo>
                  <a:pt x="2092599" y="4136702"/>
                </a:lnTo>
                <a:lnTo>
                  <a:pt x="0" y="41367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1641" t="-1297" r="-785" b="0"/>
            </a:stretch>
          </a:blipFill>
        </p:spPr>
      </p:sp>
      <p:grpSp>
        <p:nvGrpSpPr>
          <p:cNvPr name="Group 32" id="32"/>
          <p:cNvGrpSpPr/>
          <p:nvPr/>
        </p:nvGrpSpPr>
        <p:grpSpPr>
          <a:xfrm rot="0">
            <a:off x="4931773" y="3145577"/>
            <a:ext cx="2048227" cy="2310979"/>
            <a:chOff x="0" y="0"/>
            <a:chExt cx="809384" cy="91321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09384" cy="913214"/>
            </a:xfrm>
            <a:custGeom>
              <a:avLst/>
              <a:gdLst/>
              <a:ahLst/>
              <a:cxnLst/>
              <a:rect r="r" b="b" t="t" l="l"/>
              <a:pathLst>
                <a:path h="913214" w="809384">
                  <a:moveTo>
                    <a:pt x="0" y="0"/>
                  </a:moveTo>
                  <a:lnTo>
                    <a:pt x="809384" y="0"/>
                  </a:lnTo>
                  <a:lnTo>
                    <a:pt x="809384" y="913214"/>
                  </a:lnTo>
                  <a:lnTo>
                    <a:pt x="0" y="91321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9050"/>
              <a:ext cx="809384" cy="932264"/>
            </a:xfrm>
            <a:prstGeom prst="rect">
              <a:avLst/>
            </a:prstGeom>
          </p:spPr>
          <p:txBody>
            <a:bodyPr anchor="ctr" rtlCol="false" tIns="75925" lIns="75925" bIns="75925" rIns="75925"/>
            <a:lstStyle/>
            <a:p>
              <a:pPr algn="ctr">
                <a:lnSpc>
                  <a:spcPts val="1006"/>
                </a:lnSpc>
              </a:pPr>
            </a:p>
          </p:txBody>
        </p:sp>
      </p:grpSp>
      <p:sp>
        <p:nvSpPr>
          <p:cNvPr name="AutoShape 35" id="35"/>
          <p:cNvSpPr/>
          <p:nvPr/>
        </p:nvSpPr>
        <p:spPr>
          <a:xfrm>
            <a:off x="5082070" y="3381289"/>
            <a:ext cx="0" cy="1910022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6" id="36"/>
          <p:cNvGrpSpPr/>
          <p:nvPr/>
        </p:nvGrpSpPr>
        <p:grpSpPr>
          <a:xfrm rot="0">
            <a:off x="4930543" y="1801910"/>
            <a:ext cx="2061675" cy="1362893"/>
            <a:chOff x="0" y="0"/>
            <a:chExt cx="830842" cy="549237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30842" cy="549237"/>
            </a:xfrm>
            <a:custGeom>
              <a:avLst/>
              <a:gdLst/>
              <a:ahLst/>
              <a:cxnLst/>
              <a:rect r="r" b="b" t="t" l="l"/>
              <a:pathLst>
                <a:path h="549237" w="830842">
                  <a:moveTo>
                    <a:pt x="0" y="0"/>
                  </a:moveTo>
                  <a:lnTo>
                    <a:pt x="830842" y="0"/>
                  </a:lnTo>
                  <a:lnTo>
                    <a:pt x="830842" y="549237"/>
                  </a:lnTo>
                  <a:lnTo>
                    <a:pt x="0" y="549237"/>
                  </a:lnTo>
                  <a:close/>
                </a:path>
              </a:pathLst>
            </a:custGeom>
            <a:solidFill>
              <a:srgbClr val="D8A800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9050"/>
              <a:ext cx="830842" cy="568287"/>
            </a:xfrm>
            <a:prstGeom prst="rect">
              <a:avLst/>
            </a:prstGeom>
          </p:spPr>
          <p:txBody>
            <a:bodyPr anchor="ctr" rtlCol="false" tIns="39059" lIns="39059" bIns="39059" rIns="39059"/>
            <a:lstStyle/>
            <a:p>
              <a:pPr algn="ctr">
                <a:lnSpc>
                  <a:spcPts val="1785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4932256" y="5437229"/>
            <a:ext cx="2048227" cy="445798"/>
            <a:chOff x="0" y="0"/>
            <a:chExt cx="825422" cy="179654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25422" cy="179654"/>
            </a:xfrm>
            <a:custGeom>
              <a:avLst/>
              <a:gdLst/>
              <a:ahLst/>
              <a:cxnLst/>
              <a:rect r="r" b="b" t="t" l="l"/>
              <a:pathLst>
                <a:path h="179654" w="825422">
                  <a:moveTo>
                    <a:pt x="0" y="0"/>
                  </a:moveTo>
                  <a:lnTo>
                    <a:pt x="825422" y="0"/>
                  </a:lnTo>
                  <a:lnTo>
                    <a:pt x="825422" y="179654"/>
                  </a:lnTo>
                  <a:lnTo>
                    <a:pt x="0" y="179654"/>
                  </a:lnTo>
                  <a:close/>
                </a:path>
              </a:pathLst>
            </a:custGeom>
            <a:solidFill>
              <a:srgbClr val="F0F0F0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19050"/>
              <a:ext cx="825422" cy="198704"/>
            </a:xfrm>
            <a:prstGeom prst="rect">
              <a:avLst/>
            </a:prstGeom>
          </p:spPr>
          <p:txBody>
            <a:bodyPr anchor="ctr" rtlCol="false" tIns="39059" lIns="39059" bIns="39059" rIns="39059"/>
            <a:lstStyle/>
            <a:p>
              <a:pPr algn="ctr">
                <a:lnSpc>
                  <a:spcPts val="1785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5480076" y="2892417"/>
            <a:ext cx="949160" cy="166389"/>
            <a:chOff x="0" y="0"/>
            <a:chExt cx="476575" cy="83544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76575" cy="83544"/>
            </a:xfrm>
            <a:custGeom>
              <a:avLst/>
              <a:gdLst/>
              <a:ahLst/>
              <a:cxnLst/>
              <a:rect r="r" b="b" t="t" l="l"/>
              <a:pathLst>
                <a:path h="83544" w="476575">
                  <a:moveTo>
                    <a:pt x="41772" y="0"/>
                  </a:moveTo>
                  <a:lnTo>
                    <a:pt x="434803" y="0"/>
                  </a:lnTo>
                  <a:cubicBezTo>
                    <a:pt x="457873" y="0"/>
                    <a:pt x="476575" y="18702"/>
                    <a:pt x="476575" y="41772"/>
                  </a:cubicBezTo>
                  <a:lnTo>
                    <a:pt x="476575" y="41772"/>
                  </a:lnTo>
                  <a:cubicBezTo>
                    <a:pt x="476575" y="64842"/>
                    <a:pt x="457873" y="83544"/>
                    <a:pt x="434803" y="83544"/>
                  </a:cubicBezTo>
                  <a:lnTo>
                    <a:pt x="41772" y="83544"/>
                  </a:lnTo>
                  <a:cubicBezTo>
                    <a:pt x="18702" y="83544"/>
                    <a:pt x="0" y="64842"/>
                    <a:pt x="0" y="41772"/>
                  </a:cubicBezTo>
                  <a:lnTo>
                    <a:pt x="0" y="41772"/>
                  </a:lnTo>
                  <a:cubicBezTo>
                    <a:pt x="0" y="18702"/>
                    <a:pt x="18702" y="0"/>
                    <a:pt x="41772" y="0"/>
                  </a:cubicBezTo>
                  <a:close/>
                </a:path>
              </a:pathLst>
            </a:custGeom>
            <a:solidFill>
              <a:srgbClr val="FFFFFF">
                <a:alpha val="57647"/>
              </a:srgbClr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476575" cy="121644"/>
            </a:xfrm>
            <a:prstGeom prst="rect">
              <a:avLst/>
            </a:prstGeom>
          </p:spPr>
          <p:txBody>
            <a:bodyPr anchor="ctr" rtlCol="false" tIns="63444" lIns="63444" bIns="63444" rIns="63444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Freeform 45" id="45"/>
          <p:cNvSpPr/>
          <p:nvPr/>
        </p:nvSpPr>
        <p:spPr>
          <a:xfrm flipH="false" flipV="false" rot="0">
            <a:off x="7134053" y="1801910"/>
            <a:ext cx="2092599" cy="4136702"/>
          </a:xfrm>
          <a:custGeom>
            <a:avLst/>
            <a:gdLst/>
            <a:ahLst/>
            <a:cxnLst/>
            <a:rect r="r" b="b" t="t" l="l"/>
            <a:pathLst>
              <a:path h="4136702" w="2092599">
                <a:moveTo>
                  <a:pt x="0" y="0"/>
                </a:moveTo>
                <a:lnTo>
                  <a:pt x="2092600" y="0"/>
                </a:lnTo>
                <a:lnTo>
                  <a:pt x="2092600" y="4136702"/>
                </a:lnTo>
                <a:lnTo>
                  <a:pt x="0" y="41367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1641" t="-1297" r="-785" b="0"/>
            </a:stretch>
          </a:blipFill>
        </p:spPr>
      </p:sp>
      <p:grpSp>
        <p:nvGrpSpPr>
          <p:cNvPr name="Group 46" id="46"/>
          <p:cNvGrpSpPr/>
          <p:nvPr/>
        </p:nvGrpSpPr>
        <p:grpSpPr>
          <a:xfrm rot="0">
            <a:off x="7133571" y="3145577"/>
            <a:ext cx="2048227" cy="2310979"/>
            <a:chOff x="0" y="0"/>
            <a:chExt cx="809384" cy="913214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809384" cy="913214"/>
            </a:xfrm>
            <a:custGeom>
              <a:avLst/>
              <a:gdLst/>
              <a:ahLst/>
              <a:cxnLst/>
              <a:rect r="r" b="b" t="t" l="l"/>
              <a:pathLst>
                <a:path h="913214" w="809384">
                  <a:moveTo>
                    <a:pt x="0" y="0"/>
                  </a:moveTo>
                  <a:lnTo>
                    <a:pt x="809384" y="0"/>
                  </a:lnTo>
                  <a:lnTo>
                    <a:pt x="809384" y="913214"/>
                  </a:lnTo>
                  <a:lnTo>
                    <a:pt x="0" y="91321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19050"/>
              <a:ext cx="809384" cy="932264"/>
            </a:xfrm>
            <a:prstGeom prst="rect">
              <a:avLst/>
            </a:prstGeom>
          </p:spPr>
          <p:txBody>
            <a:bodyPr anchor="ctr" rtlCol="false" tIns="75925" lIns="75925" bIns="75925" rIns="75925"/>
            <a:lstStyle/>
            <a:p>
              <a:pPr algn="ctr">
                <a:lnSpc>
                  <a:spcPts val="1006"/>
                </a:lnSpc>
              </a:pPr>
            </a:p>
          </p:txBody>
        </p:sp>
      </p:grpSp>
      <p:sp>
        <p:nvSpPr>
          <p:cNvPr name="AutoShape 49" id="49"/>
          <p:cNvSpPr/>
          <p:nvPr/>
        </p:nvSpPr>
        <p:spPr>
          <a:xfrm>
            <a:off x="7283867" y="3381289"/>
            <a:ext cx="0" cy="1910022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0" id="50"/>
          <p:cNvGrpSpPr/>
          <p:nvPr/>
        </p:nvGrpSpPr>
        <p:grpSpPr>
          <a:xfrm rot="0">
            <a:off x="7132340" y="1801910"/>
            <a:ext cx="2061370" cy="1362893"/>
            <a:chOff x="0" y="0"/>
            <a:chExt cx="830719" cy="549237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30719" cy="549237"/>
            </a:xfrm>
            <a:custGeom>
              <a:avLst/>
              <a:gdLst/>
              <a:ahLst/>
              <a:cxnLst/>
              <a:rect r="r" b="b" t="t" l="l"/>
              <a:pathLst>
                <a:path h="549237" w="830719">
                  <a:moveTo>
                    <a:pt x="0" y="0"/>
                  </a:moveTo>
                  <a:lnTo>
                    <a:pt x="830719" y="0"/>
                  </a:lnTo>
                  <a:lnTo>
                    <a:pt x="830719" y="549237"/>
                  </a:lnTo>
                  <a:lnTo>
                    <a:pt x="0" y="549237"/>
                  </a:lnTo>
                  <a:close/>
                </a:path>
              </a:pathLst>
            </a:custGeom>
            <a:solidFill>
              <a:srgbClr val="262C61"/>
            </a:solid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19050"/>
              <a:ext cx="830719" cy="568287"/>
            </a:xfrm>
            <a:prstGeom prst="rect">
              <a:avLst/>
            </a:prstGeom>
          </p:spPr>
          <p:txBody>
            <a:bodyPr anchor="ctr" rtlCol="false" tIns="39059" lIns="39059" bIns="39059" rIns="39059"/>
            <a:lstStyle/>
            <a:p>
              <a:pPr algn="ctr">
                <a:lnSpc>
                  <a:spcPts val="1785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7134053" y="5437229"/>
            <a:ext cx="2048227" cy="445798"/>
            <a:chOff x="0" y="0"/>
            <a:chExt cx="825422" cy="179654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825422" cy="179654"/>
            </a:xfrm>
            <a:custGeom>
              <a:avLst/>
              <a:gdLst/>
              <a:ahLst/>
              <a:cxnLst/>
              <a:rect r="r" b="b" t="t" l="l"/>
              <a:pathLst>
                <a:path h="179654" w="825422">
                  <a:moveTo>
                    <a:pt x="0" y="0"/>
                  </a:moveTo>
                  <a:lnTo>
                    <a:pt x="825422" y="0"/>
                  </a:lnTo>
                  <a:lnTo>
                    <a:pt x="825422" y="179654"/>
                  </a:lnTo>
                  <a:lnTo>
                    <a:pt x="0" y="179654"/>
                  </a:lnTo>
                  <a:close/>
                </a:path>
              </a:pathLst>
            </a:custGeom>
            <a:solidFill>
              <a:srgbClr val="F0F0F0"/>
            </a:solid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19050"/>
              <a:ext cx="825422" cy="198704"/>
            </a:xfrm>
            <a:prstGeom prst="rect">
              <a:avLst/>
            </a:prstGeom>
          </p:spPr>
          <p:txBody>
            <a:bodyPr anchor="ctr" rtlCol="false" tIns="39059" lIns="39059" bIns="39059" rIns="39059"/>
            <a:lstStyle/>
            <a:p>
              <a:pPr algn="ctr">
                <a:lnSpc>
                  <a:spcPts val="1785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6" id="56"/>
          <p:cNvSpPr/>
          <p:nvPr/>
        </p:nvSpPr>
        <p:spPr>
          <a:xfrm flipH="false" flipV="false" rot="0">
            <a:off x="1468475" y="2024019"/>
            <a:ext cx="165171" cy="160066"/>
          </a:xfrm>
          <a:custGeom>
            <a:avLst/>
            <a:gdLst/>
            <a:ahLst/>
            <a:cxnLst/>
            <a:rect r="r" b="b" t="t" l="l"/>
            <a:pathLst>
              <a:path h="160066" w="165171">
                <a:moveTo>
                  <a:pt x="0" y="0"/>
                </a:moveTo>
                <a:lnTo>
                  <a:pt x="165172" y="0"/>
                </a:lnTo>
                <a:lnTo>
                  <a:pt x="165172" y="160066"/>
                </a:lnTo>
                <a:lnTo>
                  <a:pt x="0" y="1600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7" id="57"/>
          <p:cNvGrpSpPr/>
          <p:nvPr/>
        </p:nvGrpSpPr>
        <p:grpSpPr>
          <a:xfrm rot="0">
            <a:off x="3583961" y="1998315"/>
            <a:ext cx="337795" cy="160066"/>
            <a:chOff x="0" y="0"/>
            <a:chExt cx="450393" cy="213421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20228" cy="213421"/>
            </a:xfrm>
            <a:custGeom>
              <a:avLst/>
              <a:gdLst/>
              <a:ahLst/>
              <a:cxnLst/>
              <a:rect r="r" b="b" t="t" l="l"/>
              <a:pathLst>
                <a:path h="213421" w="220228">
                  <a:moveTo>
                    <a:pt x="0" y="0"/>
                  </a:moveTo>
                  <a:lnTo>
                    <a:pt x="220228" y="0"/>
                  </a:lnTo>
                  <a:lnTo>
                    <a:pt x="220228" y="213421"/>
                  </a:lnTo>
                  <a:lnTo>
                    <a:pt x="0" y="2134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9" id="59"/>
            <p:cNvSpPr/>
            <p:nvPr/>
          </p:nvSpPr>
          <p:spPr>
            <a:xfrm flipH="false" flipV="false" rot="0">
              <a:off x="230165" y="0"/>
              <a:ext cx="220228" cy="213421"/>
            </a:xfrm>
            <a:custGeom>
              <a:avLst/>
              <a:gdLst/>
              <a:ahLst/>
              <a:cxnLst/>
              <a:rect r="r" b="b" t="t" l="l"/>
              <a:pathLst>
                <a:path h="213421" w="220228">
                  <a:moveTo>
                    <a:pt x="0" y="0"/>
                  </a:moveTo>
                  <a:lnTo>
                    <a:pt x="220228" y="0"/>
                  </a:lnTo>
                  <a:lnTo>
                    <a:pt x="220228" y="213421"/>
                  </a:lnTo>
                  <a:lnTo>
                    <a:pt x="0" y="2134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5693244" y="2024019"/>
            <a:ext cx="522825" cy="160066"/>
            <a:chOff x="0" y="0"/>
            <a:chExt cx="697100" cy="213421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20228" cy="213421"/>
            </a:xfrm>
            <a:custGeom>
              <a:avLst/>
              <a:gdLst/>
              <a:ahLst/>
              <a:cxnLst/>
              <a:rect r="r" b="b" t="t" l="l"/>
              <a:pathLst>
                <a:path h="213421" w="220228">
                  <a:moveTo>
                    <a:pt x="0" y="0"/>
                  </a:moveTo>
                  <a:lnTo>
                    <a:pt x="220228" y="0"/>
                  </a:lnTo>
                  <a:lnTo>
                    <a:pt x="220228" y="213421"/>
                  </a:lnTo>
                  <a:lnTo>
                    <a:pt x="0" y="2134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2" id="62"/>
            <p:cNvSpPr/>
            <p:nvPr/>
          </p:nvSpPr>
          <p:spPr>
            <a:xfrm flipH="false" flipV="false" rot="0">
              <a:off x="238436" y="0"/>
              <a:ext cx="220228" cy="213421"/>
            </a:xfrm>
            <a:custGeom>
              <a:avLst/>
              <a:gdLst/>
              <a:ahLst/>
              <a:cxnLst/>
              <a:rect r="r" b="b" t="t" l="l"/>
              <a:pathLst>
                <a:path h="213421" w="220228">
                  <a:moveTo>
                    <a:pt x="0" y="0"/>
                  </a:moveTo>
                  <a:lnTo>
                    <a:pt x="220228" y="0"/>
                  </a:lnTo>
                  <a:lnTo>
                    <a:pt x="220228" y="213421"/>
                  </a:lnTo>
                  <a:lnTo>
                    <a:pt x="0" y="2134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3" id="63"/>
            <p:cNvSpPr/>
            <p:nvPr/>
          </p:nvSpPr>
          <p:spPr>
            <a:xfrm flipH="false" flipV="false" rot="0">
              <a:off x="476872" y="0"/>
              <a:ext cx="220228" cy="213421"/>
            </a:xfrm>
            <a:custGeom>
              <a:avLst/>
              <a:gdLst/>
              <a:ahLst/>
              <a:cxnLst/>
              <a:rect r="r" b="b" t="t" l="l"/>
              <a:pathLst>
                <a:path h="213421" w="220228">
                  <a:moveTo>
                    <a:pt x="0" y="0"/>
                  </a:moveTo>
                  <a:lnTo>
                    <a:pt x="220228" y="0"/>
                  </a:lnTo>
                  <a:lnTo>
                    <a:pt x="220228" y="213421"/>
                  </a:lnTo>
                  <a:lnTo>
                    <a:pt x="0" y="2134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7812456" y="2024019"/>
            <a:ext cx="687996" cy="160066"/>
            <a:chOff x="0" y="0"/>
            <a:chExt cx="917328" cy="213421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220228" cy="213421"/>
            </a:xfrm>
            <a:custGeom>
              <a:avLst/>
              <a:gdLst/>
              <a:ahLst/>
              <a:cxnLst/>
              <a:rect r="r" b="b" t="t" l="l"/>
              <a:pathLst>
                <a:path h="213421" w="220228">
                  <a:moveTo>
                    <a:pt x="0" y="0"/>
                  </a:moveTo>
                  <a:lnTo>
                    <a:pt x="220228" y="0"/>
                  </a:lnTo>
                  <a:lnTo>
                    <a:pt x="220228" y="213421"/>
                  </a:lnTo>
                  <a:lnTo>
                    <a:pt x="0" y="2134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6" id="66"/>
            <p:cNvSpPr/>
            <p:nvPr/>
          </p:nvSpPr>
          <p:spPr>
            <a:xfrm flipH="false" flipV="false" rot="0">
              <a:off x="232367" y="0"/>
              <a:ext cx="220228" cy="213421"/>
            </a:xfrm>
            <a:custGeom>
              <a:avLst/>
              <a:gdLst/>
              <a:ahLst/>
              <a:cxnLst/>
              <a:rect r="r" b="b" t="t" l="l"/>
              <a:pathLst>
                <a:path h="213421" w="220228">
                  <a:moveTo>
                    <a:pt x="0" y="0"/>
                  </a:moveTo>
                  <a:lnTo>
                    <a:pt x="220228" y="0"/>
                  </a:lnTo>
                  <a:lnTo>
                    <a:pt x="220228" y="213421"/>
                  </a:lnTo>
                  <a:lnTo>
                    <a:pt x="0" y="2134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464733" y="0"/>
              <a:ext cx="220228" cy="213421"/>
            </a:xfrm>
            <a:custGeom>
              <a:avLst/>
              <a:gdLst/>
              <a:ahLst/>
              <a:cxnLst/>
              <a:rect r="r" b="b" t="t" l="l"/>
              <a:pathLst>
                <a:path h="213421" w="220228">
                  <a:moveTo>
                    <a:pt x="0" y="0"/>
                  </a:moveTo>
                  <a:lnTo>
                    <a:pt x="220229" y="0"/>
                  </a:lnTo>
                  <a:lnTo>
                    <a:pt x="220229" y="213421"/>
                  </a:lnTo>
                  <a:lnTo>
                    <a:pt x="0" y="2134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8" id="68"/>
            <p:cNvSpPr/>
            <p:nvPr/>
          </p:nvSpPr>
          <p:spPr>
            <a:xfrm flipH="false" flipV="false" rot="0">
              <a:off x="697100" y="0"/>
              <a:ext cx="220228" cy="213421"/>
            </a:xfrm>
            <a:custGeom>
              <a:avLst/>
              <a:gdLst/>
              <a:ahLst/>
              <a:cxnLst/>
              <a:rect r="r" b="b" t="t" l="l"/>
              <a:pathLst>
                <a:path h="213421" w="220228">
                  <a:moveTo>
                    <a:pt x="0" y="0"/>
                  </a:moveTo>
                  <a:lnTo>
                    <a:pt x="220228" y="0"/>
                  </a:lnTo>
                  <a:lnTo>
                    <a:pt x="220228" y="213421"/>
                  </a:lnTo>
                  <a:lnTo>
                    <a:pt x="0" y="2134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7681874" y="2892417"/>
            <a:ext cx="949160" cy="166389"/>
            <a:chOff x="0" y="0"/>
            <a:chExt cx="476575" cy="83544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476575" cy="83544"/>
            </a:xfrm>
            <a:custGeom>
              <a:avLst/>
              <a:gdLst/>
              <a:ahLst/>
              <a:cxnLst/>
              <a:rect r="r" b="b" t="t" l="l"/>
              <a:pathLst>
                <a:path h="83544" w="476575">
                  <a:moveTo>
                    <a:pt x="41772" y="0"/>
                  </a:moveTo>
                  <a:lnTo>
                    <a:pt x="434803" y="0"/>
                  </a:lnTo>
                  <a:cubicBezTo>
                    <a:pt x="457873" y="0"/>
                    <a:pt x="476575" y="18702"/>
                    <a:pt x="476575" y="41772"/>
                  </a:cubicBezTo>
                  <a:lnTo>
                    <a:pt x="476575" y="41772"/>
                  </a:lnTo>
                  <a:cubicBezTo>
                    <a:pt x="476575" y="64842"/>
                    <a:pt x="457873" y="83544"/>
                    <a:pt x="434803" y="83544"/>
                  </a:cubicBezTo>
                  <a:lnTo>
                    <a:pt x="41772" y="83544"/>
                  </a:lnTo>
                  <a:cubicBezTo>
                    <a:pt x="18702" y="83544"/>
                    <a:pt x="0" y="64842"/>
                    <a:pt x="0" y="41772"/>
                  </a:cubicBezTo>
                  <a:lnTo>
                    <a:pt x="0" y="41772"/>
                  </a:lnTo>
                  <a:cubicBezTo>
                    <a:pt x="0" y="18702"/>
                    <a:pt x="18702" y="0"/>
                    <a:pt x="41772" y="0"/>
                  </a:cubicBezTo>
                  <a:close/>
                </a:path>
              </a:pathLst>
            </a:custGeom>
            <a:solidFill>
              <a:srgbClr val="FFFFFF">
                <a:alpha val="57647"/>
              </a:srgbClr>
            </a:solid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38100"/>
              <a:ext cx="476575" cy="121644"/>
            </a:xfrm>
            <a:prstGeom prst="rect">
              <a:avLst/>
            </a:prstGeom>
          </p:spPr>
          <p:txBody>
            <a:bodyPr anchor="ctr" rtlCol="false" tIns="63444" lIns="63444" bIns="63444" rIns="63444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486917" y="526868"/>
            <a:ext cx="5381323" cy="917236"/>
            <a:chOff x="0" y="0"/>
            <a:chExt cx="7175097" cy="1222981"/>
          </a:xfrm>
        </p:grpSpPr>
        <p:sp>
          <p:nvSpPr>
            <p:cNvPr name="TextBox 73" id="73"/>
            <p:cNvSpPr txBox="true"/>
            <p:nvPr/>
          </p:nvSpPr>
          <p:spPr>
            <a:xfrm rot="0">
              <a:off x="0" y="-76200"/>
              <a:ext cx="4198103" cy="8147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5167"/>
                </a:lnSpc>
              </a:pPr>
              <a:r>
                <a:rPr lang="en-US" b="true" sz="3691" spc="-62">
                  <a:solidFill>
                    <a:srgbClr val="000000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Happy house</a:t>
              </a:r>
            </a:p>
          </p:txBody>
        </p:sp>
        <p:sp>
          <p:nvSpPr>
            <p:cNvPr name="TextBox 74" id="74"/>
            <p:cNvSpPr txBox="true"/>
            <p:nvPr/>
          </p:nvSpPr>
          <p:spPr>
            <a:xfrm rot="0">
              <a:off x="0" y="837985"/>
              <a:ext cx="7175097" cy="3849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459"/>
                </a:lnSpc>
              </a:pPr>
              <a:r>
                <a:rPr lang="en-US" sz="1757" i="true" spc="-145">
                  <a:solidFill>
                    <a:srgbClr val="000000"/>
                  </a:solidFill>
                  <a:latin typeface="TT Hoves Italics"/>
                  <a:ea typeface="TT Hoves Italics"/>
                  <a:cs typeface="TT Hoves Italics"/>
                  <a:sym typeface="TT Hoves Italics"/>
                </a:rPr>
                <a:t>Tarifs pour la 1ère année d’adhésion jusqu’au 30 juillet 2026</a:t>
              </a:r>
            </a:p>
          </p:txBody>
        </p:sp>
        <p:sp>
          <p:nvSpPr>
            <p:cNvPr name="AutoShape 75" id="75"/>
            <p:cNvSpPr/>
            <p:nvPr/>
          </p:nvSpPr>
          <p:spPr>
            <a:xfrm flipH="true">
              <a:off x="0" y="807337"/>
              <a:ext cx="3823307" cy="0"/>
            </a:xfrm>
            <a:prstGeom prst="line">
              <a:avLst/>
            </a:prstGeom>
            <a:ln cap="rnd" w="127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76" id="76"/>
          <p:cNvSpPr txBox="true"/>
          <p:nvPr/>
        </p:nvSpPr>
        <p:spPr>
          <a:xfrm rot="0">
            <a:off x="627133" y="2339896"/>
            <a:ext cx="1844437" cy="356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14"/>
              </a:lnSpc>
            </a:pPr>
            <a:r>
              <a:rPr lang="en-US" b="true" sz="2081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ESSENTIELLE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628843" y="2204959"/>
            <a:ext cx="1844437" cy="165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9"/>
              </a:lnSpc>
            </a:pPr>
            <a:r>
              <a:rPr lang="en-US" sz="970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FORMULE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786336" y="3796724"/>
            <a:ext cx="1577249" cy="130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78"/>
              </a:lnSpc>
            </a:pPr>
            <a:r>
              <a:rPr lang="en-US" sz="841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Cette offre comprends :</a:t>
            </a:r>
            <a:r>
              <a:rPr lang="en-US" sz="841">
                <a:solidFill>
                  <a:srgbClr val="262C61"/>
                </a:solidFill>
                <a:latin typeface="TT Hoves"/>
                <a:ea typeface="TT Hoves"/>
                <a:cs typeface="TT Hoves"/>
                <a:sym typeface="TT Hoves"/>
              </a:rPr>
              <a:t> 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750922" y="3990842"/>
            <a:ext cx="1603704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540" indent="-98770" lvl="1">
              <a:lnSpc>
                <a:spcPts val="1097"/>
              </a:lnSpc>
              <a:buFont typeface="Arial"/>
              <a:buChar char="•"/>
            </a:pPr>
            <a:r>
              <a:rPr lang="en-US" b="true" sz="914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Fiche prestataire</a:t>
            </a:r>
          </a:p>
          <a:p>
            <a:pPr algn="l" marL="197540" indent="-98770" lvl="1">
              <a:lnSpc>
                <a:spcPts val="1097"/>
              </a:lnSpc>
              <a:buFont typeface="Arial"/>
              <a:buChar char="•"/>
            </a:pPr>
            <a:r>
              <a:rPr lang="en-US" b="true" sz="914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Chat interne</a:t>
            </a:r>
          </a:p>
          <a:p>
            <a:pPr algn="l" marL="197540" indent="-98770" lvl="1">
              <a:lnSpc>
                <a:spcPts val="1097"/>
              </a:lnSpc>
              <a:buFont typeface="Arial"/>
              <a:buChar char="•"/>
            </a:pPr>
            <a:r>
              <a:rPr lang="en-US" b="true" sz="914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Visibilité 1 département</a:t>
            </a:r>
          </a:p>
          <a:p>
            <a:pPr algn="l">
              <a:lnSpc>
                <a:spcPts val="1097"/>
              </a:lnSpc>
            </a:pPr>
          </a:p>
        </p:txBody>
      </p:sp>
      <p:sp>
        <p:nvSpPr>
          <p:cNvPr name="TextBox 80" id="80"/>
          <p:cNvSpPr txBox="true"/>
          <p:nvPr/>
        </p:nvSpPr>
        <p:spPr>
          <a:xfrm rot="0">
            <a:off x="1215562" y="5456556"/>
            <a:ext cx="782713" cy="303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48"/>
              </a:lnSpc>
            </a:pPr>
            <a:r>
              <a:rPr lang="en-US" sz="1748" b="true">
                <a:solidFill>
                  <a:srgbClr val="000000"/>
                </a:solidFill>
                <a:latin typeface="Decalotype Bold"/>
                <a:ea typeface="Decalotype Bold"/>
                <a:cs typeface="Decalotype Bold"/>
                <a:sym typeface="Decalotype Bold"/>
              </a:rPr>
              <a:t>590€ HT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1813783" y="5574617"/>
            <a:ext cx="423716" cy="175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372"/>
              </a:lnSpc>
            </a:pPr>
            <a:r>
              <a:rPr lang="en-US" sz="980" i="true">
                <a:solidFill>
                  <a:srgbClr val="000000"/>
                </a:solidFill>
                <a:latin typeface="Decalotype Italics"/>
                <a:ea typeface="Decalotype Italics"/>
                <a:cs typeface="Decalotype Italics"/>
                <a:sym typeface="Decalotype Italics"/>
              </a:rPr>
              <a:t>/ An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671320" y="5544788"/>
            <a:ext cx="580488" cy="202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9"/>
              </a:lnSpc>
            </a:pPr>
            <a:r>
              <a:rPr lang="en-US" sz="1163" strike="sngStrike" i="true">
                <a:solidFill>
                  <a:srgbClr val="888E7D"/>
                </a:solidFill>
                <a:latin typeface="Decalotype Italics"/>
                <a:ea typeface="Decalotype Italics"/>
                <a:cs typeface="Decalotype Italics"/>
                <a:sym typeface="Decalotype Italics"/>
              </a:rPr>
              <a:t>790€ HT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828629" y="3342073"/>
            <a:ext cx="2201798" cy="291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73"/>
              </a:lnSpc>
            </a:pPr>
            <a:r>
              <a:rPr lang="en-US" sz="909" b="true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SALLE CAPACITE </a:t>
            </a:r>
          </a:p>
          <a:p>
            <a:pPr algn="l">
              <a:lnSpc>
                <a:spcPts val="1273"/>
              </a:lnSpc>
            </a:pPr>
            <a:r>
              <a:rPr lang="en-US" sz="909" b="true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&lt;20 PERS ASSISES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2828931" y="2368471"/>
            <a:ext cx="1844437" cy="356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14"/>
              </a:lnSpc>
            </a:pPr>
            <a:r>
              <a:rPr lang="en-US" b="true" sz="2081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ESSENTIELLE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2828931" y="2225056"/>
            <a:ext cx="1844437" cy="165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9"/>
              </a:lnSpc>
            </a:pPr>
            <a:r>
              <a:rPr lang="en-US" sz="970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FORMULE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4183959" y="5571771"/>
            <a:ext cx="423716" cy="175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372"/>
              </a:lnSpc>
            </a:pPr>
            <a:r>
              <a:rPr lang="en-US" sz="980" i="true">
                <a:solidFill>
                  <a:srgbClr val="000000"/>
                </a:solidFill>
                <a:latin typeface="Decalotype Italics"/>
                <a:ea typeface="Decalotype Italics"/>
                <a:cs typeface="Decalotype Italics"/>
                <a:sym typeface="Decalotype Italics"/>
              </a:rPr>
              <a:t>/ An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3310564" y="2908030"/>
            <a:ext cx="884590" cy="116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4"/>
              </a:lnSpc>
            </a:pPr>
            <a:r>
              <a:rPr lang="en-US" b="true" sz="674">
                <a:solidFill>
                  <a:srgbClr val="000000"/>
                </a:solidFill>
                <a:latin typeface="Decalotype Bold"/>
                <a:ea typeface="Decalotype Bold"/>
                <a:cs typeface="Decalotype Bold"/>
                <a:sym typeface="Decalotype Bold"/>
              </a:rPr>
              <a:t>LIEU MOYENNE CAPACITE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5032438" y="2368471"/>
            <a:ext cx="1844437" cy="356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14"/>
              </a:lnSpc>
            </a:pPr>
            <a:r>
              <a:rPr lang="en-US" b="true" sz="2081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ESSENTIELLE</a:t>
            </a:r>
            <a:r>
              <a:rPr lang="en-US" b="true" sz="2081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 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5032438" y="2225056"/>
            <a:ext cx="1844437" cy="165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9"/>
              </a:lnSpc>
            </a:pPr>
            <a:r>
              <a:rPr lang="en-US" sz="970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FORMULE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5512361" y="2908030"/>
            <a:ext cx="884590" cy="116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4"/>
              </a:lnSpc>
            </a:pPr>
            <a:r>
              <a:rPr lang="en-US" b="true" sz="674">
                <a:solidFill>
                  <a:srgbClr val="000000"/>
                </a:solidFill>
                <a:latin typeface="Decalotype Bold"/>
                <a:ea typeface="Decalotype Bold"/>
                <a:cs typeface="Decalotype Bold"/>
                <a:sym typeface="Decalotype Bold"/>
              </a:rPr>
              <a:t>LIEU GRANDE CAPACITE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7234236" y="2406571"/>
            <a:ext cx="1844437" cy="356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14"/>
              </a:lnSpc>
            </a:pPr>
            <a:r>
              <a:rPr lang="en-US" b="true" sz="2081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MULTISITES</a:t>
            </a:r>
          </a:p>
        </p:txBody>
      </p:sp>
      <p:sp>
        <p:nvSpPr>
          <p:cNvPr name="TextBox 92" id="92"/>
          <p:cNvSpPr txBox="true"/>
          <p:nvPr/>
        </p:nvSpPr>
        <p:spPr>
          <a:xfrm rot="0">
            <a:off x="7240807" y="2253631"/>
            <a:ext cx="1844437" cy="165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9"/>
              </a:lnSpc>
            </a:pPr>
            <a:r>
              <a:rPr lang="en-US" sz="970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OPTION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7714159" y="2908030"/>
            <a:ext cx="884590" cy="116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4"/>
              </a:lnSpc>
            </a:pPr>
            <a:r>
              <a:rPr lang="en-US" b="true" sz="674">
                <a:solidFill>
                  <a:srgbClr val="000000"/>
                </a:solidFill>
                <a:latin typeface="Decalotype Bold"/>
                <a:ea typeface="Decalotype Bold"/>
                <a:cs typeface="Decalotype Bold"/>
                <a:sym typeface="Decalotype Bold"/>
              </a:rPr>
              <a:t>OFFRE PLUSIEURS LIEUX 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1076481" y="2908030"/>
            <a:ext cx="884590" cy="116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4"/>
              </a:lnSpc>
            </a:pPr>
            <a:r>
              <a:rPr lang="en-US" b="true" sz="674">
                <a:solidFill>
                  <a:srgbClr val="000000"/>
                </a:solidFill>
                <a:latin typeface="Decalotype Bold"/>
                <a:ea typeface="Decalotype Bold"/>
                <a:cs typeface="Decalotype Bold"/>
                <a:sym typeface="Decalotype Bold"/>
              </a:rPr>
              <a:t>LIEU PETITE CAPACITE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777378" y="4543292"/>
            <a:ext cx="1577249" cy="137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78"/>
              </a:lnSpc>
            </a:pPr>
            <a:r>
              <a:rPr lang="en-US" sz="841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Avantages  : </a:t>
            </a:r>
          </a:p>
        </p:txBody>
      </p:sp>
      <p:sp>
        <p:nvSpPr>
          <p:cNvPr name="TextBox 96" id="96"/>
          <p:cNvSpPr txBox="true"/>
          <p:nvPr/>
        </p:nvSpPr>
        <p:spPr>
          <a:xfrm rot="0">
            <a:off x="724252" y="4748973"/>
            <a:ext cx="1747317" cy="665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54360" indent="-77180" lvl="1">
              <a:lnSpc>
                <a:spcPts val="857"/>
              </a:lnSpc>
              <a:buFont typeface="Arial"/>
              <a:buChar char="•"/>
            </a:pPr>
            <a:r>
              <a:rPr lang="en-US" b="true" sz="714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Booster votre visibilité sur le B2B</a:t>
            </a:r>
          </a:p>
          <a:p>
            <a:pPr algn="l" marL="154360" indent="-77180" lvl="1">
              <a:lnSpc>
                <a:spcPts val="857"/>
              </a:lnSpc>
              <a:buFont typeface="Arial"/>
              <a:buChar char="•"/>
            </a:pPr>
            <a:r>
              <a:rPr lang="en-US" b="true" sz="714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Développer votre CA en semaine</a:t>
            </a:r>
          </a:p>
          <a:p>
            <a:pPr algn="l" marL="154360" indent="-77180" lvl="1">
              <a:lnSpc>
                <a:spcPts val="857"/>
              </a:lnSpc>
              <a:buFont typeface="Arial"/>
              <a:buChar char="•"/>
            </a:pPr>
            <a:r>
              <a:rPr lang="en-US" b="true" sz="714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Accès à un réseau de prestataires</a:t>
            </a:r>
          </a:p>
          <a:p>
            <a:pPr algn="l" marL="154360" indent="-77180" lvl="1">
              <a:lnSpc>
                <a:spcPts val="857"/>
              </a:lnSpc>
              <a:buFont typeface="Arial"/>
              <a:buChar char="•"/>
            </a:pPr>
            <a:r>
              <a:rPr lang="en-US" b="true" sz="714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Optimisation des coûts de prospection</a:t>
            </a:r>
          </a:p>
          <a:p>
            <a:pPr algn="l">
              <a:lnSpc>
                <a:spcPts val="1097"/>
              </a:lnSpc>
            </a:pPr>
          </a:p>
        </p:txBody>
      </p:sp>
      <p:sp>
        <p:nvSpPr>
          <p:cNvPr name="TextBox 97" id="97"/>
          <p:cNvSpPr txBox="true"/>
          <p:nvPr/>
        </p:nvSpPr>
        <p:spPr>
          <a:xfrm rot="0">
            <a:off x="2933696" y="5551806"/>
            <a:ext cx="580488" cy="202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9"/>
              </a:lnSpc>
            </a:pPr>
            <a:r>
              <a:rPr lang="en-US" sz="1163" strike="sngStrike" i="true">
                <a:solidFill>
                  <a:srgbClr val="888E7D"/>
                </a:solidFill>
                <a:latin typeface="Decalotype Italics"/>
                <a:ea typeface="Decalotype Italics"/>
                <a:cs typeface="Decalotype Italics"/>
                <a:sym typeface="Decalotype Italics"/>
              </a:rPr>
              <a:t>990€ HT</a:t>
            </a:r>
          </a:p>
        </p:txBody>
      </p:sp>
      <p:sp>
        <p:nvSpPr>
          <p:cNvPr name="TextBox 98" id="98"/>
          <p:cNvSpPr txBox="true"/>
          <p:nvPr/>
        </p:nvSpPr>
        <p:spPr>
          <a:xfrm rot="0">
            <a:off x="5082070" y="5551806"/>
            <a:ext cx="580488" cy="202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9"/>
              </a:lnSpc>
            </a:pPr>
            <a:r>
              <a:rPr lang="en-US" sz="1163" strike="sngStrike" i="true">
                <a:solidFill>
                  <a:srgbClr val="888E7D"/>
                </a:solidFill>
                <a:latin typeface="Decalotype Italics"/>
                <a:ea typeface="Decalotype Italics"/>
                <a:cs typeface="Decalotype Italics"/>
                <a:sym typeface="Decalotype Italics"/>
              </a:rPr>
              <a:t>1090€ HT</a:t>
            </a:r>
          </a:p>
        </p:txBody>
      </p:sp>
      <p:sp>
        <p:nvSpPr>
          <p:cNvPr name="TextBox 99" id="99"/>
          <p:cNvSpPr txBox="true"/>
          <p:nvPr/>
        </p:nvSpPr>
        <p:spPr>
          <a:xfrm rot="0">
            <a:off x="3522063" y="5474646"/>
            <a:ext cx="782713" cy="303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48"/>
              </a:lnSpc>
            </a:pPr>
            <a:r>
              <a:rPr lang="en-US" sz="1748" b="true">
                <a:solidFill>
                  <a:srgbClr val="000000"/>
                </a:solidFill>
                <a:latin typeface="Decalotype Bold"/>
                <a:ea typeface="Decalotype Bold"/>
                <a:cs typeface="Decalotype Bold"/>
                <a:sym typeface="Decalotype Bold"/>
              </a:rPr>
              <a:t>790€ HT</a:t>
            </a:r>
          </a:p>
        </p:txBody>
      </p:sp>
      <p:sp>
        <p:nvSpPr>
          <p:cNvPr name="TextBox 100" id="100"/>
          <p:cNvSpPr txBox="true"/>
          <p:nvPr/>
        </p:nvSpPr>
        <p:spPr>
          <a:xfrm rot="0">
            <a:off x="5646523" y="5482771"/>
            <a:ext cx="782713" cy="303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48"/>
              </a:lnSpc>
            </a:pPr>
            <a:r>
              <a:rPr lang="en-US" sz="1748" b="true">
                <a:solidFill>
                  <a:srgbClr val="000000"/>
                </a:solidFill>
                <a:latin typeface="Decalotype Bold"/>
                <a:ea typeface="Decalotype Bold"/>
                <a:cs typeface="Decalotype Bold"/>
                <a:sym typeface="Decalotype Bold"/>
              </a:rPr>
              <a:t>890€ HT</a:t>
            </a:r>
          </a:p>
        </p:txBody>
      </p:sp>
      <p:sp>
        <p:nvSpPr>
          <p:cNvPr name="TextBox 101" id="101"/>
          <p:cNvSpPr txBox="true"/>
          <p:nvPr/>
        </p:nvSpPr>
        <p:spPr>
          <a:xfrm rot="0">
            <a:off x="6261354" y="5578790"/>
            <a:ext cx="423716" cy="175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372"/>
              </a:lnSpc>
            </a:pPr>
            <a:r>
              <a:rPr lang="en-US" sz="980" i="true">
                <a:solidFill>
                  <a:srgbClr val="000000"/>
                </a:solidFill>
                <a:latin typeface="Decalotype Italics"/>
                <a:ea typeface="Decalotype Italics"/>
                <a:cs typeface="Decalotype Italics"/>
                <a:sym typeface="Decalotype Italics"/>
              </a:rPr>
              <a:t>/ An</a:t>
            </a:r>
          </a:p>
        </p:txBody>
      </p:sp>
      <p:sp>
        <p:nvSpPr>
          <p:cNvPr name="TextBox 102" id="102"/>
          <p:cNvSpPr txBox="true"/>
          <p:nvPr/>
        </p:nvSpPr>
        <p:spPr>
          <a:xfrm rot="0">
            <a:off x="2933696" y="3342073"/>
            <a:ext cx="2201798" cy="291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73"/>
              </a:lnSpc>
            </a:pPr>
            <a:r>
              <a:rPr lang="en-US" sz="909" b="true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SALLE CAPACITE </a:t>
            </a:r>
          </a:p>
          <a:p>
            <a:pPr algn="l">
              <a:lnSpc>
                <a:spcPts val="1273"/>
              </a:lnSpc>
            </a:pPr>
            <a:r>
              <a:rPr lang="en-US" sz="909" b="true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ENTRE 20 ET 40 PERS. ASSISES</a:t>
            </a:r>
          </a:p>
        </p:txBody>
      </p:sp>
      <p:sp>
        <p:nvSpPr>
          <p:cNvPr name="TextBox 103" id="103"/>
          <p:cNvSpPr txBox="true"/>
          <p:nvPr/>
        </p:nvSpPr>
        <p:spPr>
          <a:xfrm rot="0">
            <a:off x="5183119" y="3383877"/>
            <a:ext cx="2201798" cy="291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73"/>
              </a:lnSpc>
            </a:pPr>
            <a:r>
              <a:rPr lang="en-US" sz="909" b="true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SALLE CAPACITE </a:t>
            </a:r>
          </a:p>
          <a:p>
            <a:pPr algn="l">
              <a:lnSpc>
                <a:spcPts val="1273"/>
              </a:lnSpc>
            </a:pPr>
            <a:r>
              <a:rPr lang="en-US" sz="909" b="true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&gt;4</a:t>
            </a:r>
            <a:r>
              <a:rPr lang="en-US" sz="909" b="true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0 PERS ASSISES</a:t>
            </a:r>
          </a:p>
        </p:txBody>
      </p:sp>
      <p:sp>
        <p:nvSpPr>
          <p:cNvPr name="TextBox 104" id="104"/>
          <p:cNvSpPr txBox="true"/>
          <p:nvPr/>
        </p:nvSpPr>
        <p:spPr>
          <a:xfrm rot="0">
            <a:off x="3030427" y="3796724"/>
            <a:ext cx="1577249" cy="137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78"/>
              </a:lnSpc>
            </a:pPr>
            <a:r>
              <a:rPr lang="en-US" sz="841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Cette offre comprends : </a:t>
            </a:r>
          </a:p>
        </p:txBody>
      </p:sp>
      <p:sp>
        <p:nvSpPr>
          <p:cNvPr name="TextBox 105" id="105"/>
          <p:cNvSpPr txBox="true"/>
          <p:nvPr/>
        </p:nvSpPr>
        <p:spPr>
          <a:xfrm rot="0">
            <a:off x="5239232" y="3796724"/>
            <a:ext cx="1577249" cy="137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78"/>
              </a:lnSpc>
            </a:pPr>
            <a:r>
              <a:rPr lang="en-US" sz="841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Cette offre comprends : </a:t>
            </a:r>
          </a:p>
        </p:txBody>
      </p:sp>
      <p:sp>
        <p:nvSpPr>
          <p:cNvPr name="TextBox 106" id="106"/>
          <p:cNvSpPr txBox="true"/>
          <p:nvPr/>
        </p:nvSpPr>
        <p:spPr>
          <a:xfrm rot="0">
            <a:off x="3003972" y="4028942"/>
            <a:ext cx="1603704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540" indent="-98770" lvl="1">
              <a:lnSpc>
                <a:spcPts val="1097"/>
              </a:lnSpc>
              <a:buFont typeface="Arial"/>
              <a:buChar char="•"/>
            </a:pPr>
            <a:r>
              <a:rPr lang="en-US" b="true" sz="914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Fiche prestataire</a:t>
            </a:r>
          </a:p>
          <a:p>
            <a:pPr algn="l" marL="197540" indent="-98770" lvl="1">
              <a:lnSpc>
                <a:spcPts val="1097"/>
              </a:lnSpc>
              <a:buFont typeface="Arial"/>
              <a:buChar char="•"/>
            </a:pPr>
            <a:r>
              <a:rPr lang="en-US" b="true" sz="914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Chat interne</a:t>
            </a:r>
          </a:p>
          <a:p>
            <a:pPr algn="l" marL="197540" indent="-98770" lvl="1">
              <a:lnSpc>
                <a:spcPts val="1097"/>
              </a:lnSpc>
              <a:buFont typeface="Arial"/>
              <a:buChar char="•"/>
            </a:pPr>
            <a:r>
              <a:rPr lang="en-US" b="true" sz="914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Visibilité 1 département</a:t>
            </a:r>
          </a:p>
          <a:p>
            <a:pPr algn="l">
              <a:lnSpc>
                <a:spcPts val="1097"/>
              </a:lnSpc>
            </a:pPr>
          </a:p>
        </p:txBody>
      </p:sp>
      <p:sp>
        <p:nvSpPr>
          <p:cNvPr name="TextBox 107" id="107"/>
          <p:cNvSpPr txBox="true"/>
          <p:nvPr/>
        </p:nvSpPr>
        <p:spPr>
          <a:xfrm rot="0">
            <a:off x="5217338" y="4043892"/>
            <a:ext cx="1603704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97540" indent="-98770" lvl="1">
              <a:lnSpc>
                <a:spcPts val="1097"/>
              </a:lnSpc>
              <a:buFont typeface="Arial"/>
              <a:buChar char="•"/>
            </a:pPr>
            <a:r>
              <a:rPr lang="en-US" b="true" sz="914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Fiche prestataire</a:t>
            </a:r>
          </a:p>
          <a:p>
            <a:pPr algn="l" marL="197540" indent="-98770" lvl="1">
              <a:lnSpc>
                <a:spcPts val="1097"/>
              </a:lnSpc>
              <a:buFont typeface="Arial"/>
              <a:buChar char="•"/>
            </a:pPr>
            <a:r>
              <a:rPr lang="en-US" b="true" sz="914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Chat interne</a:t>
            </a:r>
          </a:p>
          <a:p>
            <a:pPr algn="l" marL="197540" indent="-98770" lvl="1">
              <a:lnSpc>
                <a:spcPts val="1097"/>
              </a:lnSpc>
              <a:buFont typeface="Arial"/>
              <a:buChar char="•"/>
            </a:pPr>
            <a:r>
              <a:rPr lang="en-US" b="true" sz="914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Visibilité 1 département</a:t>
            </a:r>
          </a:p>
          <a:p>
            <a:pPr algn="l">
              <a:lnSpc>
                <a:spcPts val="1097"/>
              </a:lnSpc>
            </a:pPr>
          </a:p>
        </p:txBody>
      </p:sp>
      <p:sp>
        <p:nvSpPr>
          <p:cNvPr name="TextBox 108" id="108"/>
          <p:cNvSpPr txBox="true"/>
          <p:nvPr/>
        </p:nvSpPr>
        <p:spPr>
          <a:xfrm rot="0">
            <a:off x="3003972" y="4543292"/>
            <a:ext cx="1577249" cy="137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78"/>
              </a:lnSpc>
            </a:pPr>
            <a:r>
              <a:rPr lang="en-US" sz="841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Avantages  : </a:t>
            </a:r>
          </a:p>
        </p:txBody>
      </p:sp>
      <p:sp>
        <p:nvSpPr>
          <p:cNvPr name="TextBox 109" id="109"/>
          <p:cNvSpPr txBox="true"/>
          <p:nvPr/>
        </p:nvSpPr>
        <p:spPr>
          <a:xfrm rot="0">
            <a:off x="5230566" y="4543292"/>
            <a:ext cx="1577249" cy="137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78"/>
              </a:lnSpc>
            </a:pPr>
            <a:r>
              <a:rPr lang="en-US" sz="841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Avantages  : </a:t>
            </a:r>
          </a:p>
        </p:txBody>
      </p:sp>
      <p:sp>
        <p:nvSpPr>
          <p:cNvPr name="TextBox 110" id="110"/>
          <p:cNvSpPr txBox="true"/>
          <p:nvPr/>
        </p:nvSpPr>
        <p:spPr>
          <a:xfrm rot="0">
            <a:off x="3003972" y="4735765"/>
            <a:ext cx="1747317" cy="665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54360" indent="-77180" lvl="1">
              <a:lnSpc>
                <a:spcPts val="857"/>
              </a:lnSpc>
              <a:buFont typeface="Arial"/>
              <a:buChar char="•"/>
            </a:pPr>
            <a:r>
              <a:rPr lang="en-US" b="true" sz="714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Booster votre visibilité sur le B2B</a:t>
            </a:r>
          </a:p>
          <a:p>
            <a:pPr algn="l" marL="154360" indent="-77180" lvl="1">
              <a:lnSpc>
                <a:spcPts val="857"/>
              </a:lnSpc>
              <a:buFont typeface="Arial"/>
              <a:buChar char="•"/>
            </a:pPr>
            <a:r>
              <a:rPr lang="en-US" b="true" sz="714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Développer votre CA en semaine</a:t>
            </a:r>
          </a:p>
          <a:p>
            <a:pPr algn="l" marL="154360" indent="-77180" lvl="1">
              <a:lnSpc>
                <a:spcPts val="857"/>
              </a:lnSpc>
              <a:buFont typeface="Arial"/>
              <a:buChar char="•"/>
            </a:pPr>
            <a:r>
              <a:rPr lang="en-US" b="true" sz="714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Accès à un réseau de prestataires</a:t>
            </a:r>
          </a:p>
          <a:p>
            <a:pPr algn="l" marL="154360" indent="-77180" lvl="1">
              <a:lnSpc>
                <a:spcPts val="857"/>
              </a:lnSpc>
              <a:buFont typeface="Arial"/>
              <a:buChar char="•"/>
            </a:pPr>
            <a:r>
              <a:rPr lang="en-US" b="true" sz="714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Optimisation des coûts de prospection</a:t>
            </a:r>
          </a:p>
          <a:p>
            <a:pPr algn="l">
              <a:lnSpc>
                <a:spcPts val="1097"/>
              </a:lnSpc>
            </a:pPr>
          </a:p>
        </p:txBody>
      </p:sp>
      <p:sp>
        <p:nvSpPr>
          <p:cNvPr name="TextBox 111" id="111"/>
          <p:cNvSpPr txBox="true"/>
          <p:nvPr/>
        </p:nvSpPr>
        <p:spPr>
          <a:xfrm rot="0">
            <a:off x="5220182" y="4726101"/>
            <a:ext cx="1747317" cy="665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54360" indent="-77180" lvl="1">
              <a:lnSpc>
                <a:spcPts val="857"/>
              </a:lnSpc>
              <a:buFont typeface="Arial"/>
              <a:buChar char="•"/>
            </a:pPr>
            <a:r>
              <a:rPr lang="en-US" b="true" sz="714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Booster votre visibilité sur le B2B</a:t>
            </a:r>
          </a:p>
          <a:p>
            <a:pPr algn="l" marL="154360" indent="-77180" lvl="1">
              <a:lnSpc>
                <a:spcPts val="857"/>
              </a:lnSpc>
              <a:buFont typeface="Arial"/>
              <a:buChar char="•"/>
            </a:pPr>
            <a:r>
              <a:rPr lang="en-US" b="true" sz="714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Développer votre CA en semaine</a:t>
            </a:r>
          </a:p>
          <a:p>
            <a:pPr algn="l" marL="154360" indent="-77180" lvl="1">
              <a:lnSpc>
                <a:spcPts val="857"/>
              </a:lnSpc>
              <a:buFont typeface="Arial"/>
              <a:buChar char="•"/>
            </a:pPr>
            <a:r>
              <a:rPr lang="en-US" b="true" sz="714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Accès à un réseau de prestataires</a:t>
            </a:r>
          </a:p>
          <a:p>
            <a:pPr algn="l" marL="154360" indent="-77180" lvl="1">
              <a:lnSpc>
                <a:spcPts val="857"/>
              </a:lnSpc>
              <a:buFont typeface="Arial"/>
              <a:buChar char="•"/>
            </a:pPr>
            <a:r>
              <a:rPr lang="en-US" b="true" sz="714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Optimisation des coûts de prospection</a:t>
            </a:r>
          </a:p>
          <a:p>
            <a:pPr algn="l">
              <a:lnSpc>
                <a:spcPts val="1097"/>
              </a:lnSpc>
            </a:pPr>
          </a:p>
        </p:txBody>
      </p:sp>
      <p:sp>
        <p:nvSpPr>
          <p:cNvPr name="TextBox 112" id="112"/>
          <p:cNvSpPr txBox="true"/>
          <p:nvPr/>
        </p:nvSpPr>
        <p:spPr>
          <a:xfrm rot="0">
            <a:off x="7355305" y="3698267"/>
            <a:ext cx="1577249" cy="1332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78"/>
              </a:lnSpc>
            </a:pPr>
            <a:r>
              <a:rPr lang="en-US" sz="841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IVous êtes propriétaires de plusieurs lieux ? </a:t>
            </a:r>
          </a:p>
          <a:p>
            <a:pPr algn="l">
              <a:lnSpc>
                <a:spcPts val="1178"/>
              </a:lnSpc>
            </a:pPr>
          </a:p>
          <a:p>
            <a:pPr algn="l">
              <a:lnSpc>
                <a:spcPts val="1178"/>
              </a:lnSpc>
            </a:pPr>
            <a:r>
              <a:rPr lang="en-US" sz="841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Vous souhaitez tous les référencer, dès le 2ème lieu bénéficiez d’une remise supplémentaire sur l’abonnement annuel du 2ème lieu et des autres</a:t>
            </a:r>
          </a:p>
        </p:txBody>
      </p:sp>
      <p:sp>
        <p:nvSpPr>
          <p:cNvPr name="TextBox 113" id="113"/>
          <p:cNvSpPr txBox="true"/>
          <p:nvPr/>
        </p:nvSpPr>
        <p:spPr>
          <a:xfrm rot="0">
            <a:off x="7355305" y="5456556"/>
            <a:ext cx="782713" cy="303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48"/>
              </a:lnSpc>
            </a:pPr>
            <a:r>
              <a:rPr lang="en-US" sz="1748" b="true">
                <a:solidFill>
                  <a:srgbClr val="000000"/>
                </a:solidFill>
                <a:latin typeface="Decalotype Bold"/>
                <a:ea typeface="Decalotype Bold"/>
                <a:cs typeface="Decalotype Bold"/>
                <a:sym typeface="Decalotype Bold"/>
              </a:rPr>
              <a:t>-40%</a:t>
            </a:r>
          </a:p>
        </p:txBody>
      </p:sp>
      <p:sp>
        <p:nvSpPr>
          <p:cNvPr name="Freeform 114" id="114"/>
          <p:cNvSpPr/>
          <p:nvPr/>
        </p:nvSpPr>
        <p:spPr>
          <a:xfrm flipH="false" flipV="false" rot="0">
            <a:off x="8360923" y="189883"/>
            <a:ext cx="1143262" cy="1135777"/>
          </a:xfrm>
          <a:custGeom>
            <a:avLst/>
            <a:gdLst/>
            <a:ahLst/>
            <a:cxnLst/>
            <a:rect r="r" b="b" t="t" l="l"/>
            <a:pathLst>
              <a:path h="1135777" w="1143262">
                <a:moveTo>
                  <a:pt x="0" y="0"/>
                </a:moveTo>
                <a:lnTo>
                  <a:pt x="1143261" y="0"/>
                </a:lnTo>
                <a:lnTo>
                  <a:pt x="1143261" y="1135777"/>
                </a:lnTo>
                <a:lnTo>
                  <a:pt x="0" y="113577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15" id="115"/>
          <p:cNvSpPr txBox="true"/>
          <p:nvPr/>
        </p:nvSpPr>
        <p:spPr>
          <a:xfrm rot="0">
            <a:off x="8209808" y="5457956"/>
            <a:ext cx="842451" cy="346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72"/>
              </a:lnSpc>
            </a:pPr>
            <a:r>
              <a:rPr lang="en-US" sz="980" i="true">
                <a:solidFill>
                  <a:srgbClr val="000000"/>
                </a:solidFill>
                <a:latin typeface="Decalotype Italics"/>
                <a:ea typeface="Decalotype Italics"/>
                <a:cs typeface="Decalotype Italics"/>
                <a:sym typeface="Decalotype Italics"/>
              </a:rPr>
              <a:t>sur le 2ème lieu et les autres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725247" y="1845384"/>
            <a:ext cx="1250303" cy="1250303"/>
          </a:xfrm>
          <a:custGeom>
            <a:avLst/>
            <a:gdLst/>
            <a:ahLst/>
            <a:cxnLst/>
            <a:rect r="r" b="b" t="t" l="l"/>
            <a:pathLst>
              <a:path h="1250303" w="1250303">
                <a:moveTo>
                  <a:pt x="0" y="0"/>
                </a:moveTo>
                <a:lnTo>
                  <a:pt x="1250302" y="0"/>
                </a:lnTo>
                <a:lnTo>
                  <a:pt x="1250302" y="1250302"/>
                </a:lnTo>
                <a:lnTo>
                  <a:pt x="0" y="12503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960594" y="1845384"/>
            <a:ext cx="1250303" cy="1250303"/>
          </a:xfrm>
          <a:custGeom>
            <a:avLst/>
            <a:gdLst/>
            <a:ahLst/>
            <a:cxnLst/>
            <a:rect r="r" b="b" t="t" l="l"/>
            <a:pathLst>
              <a:path h="1250303" w="1250303">
                <a:moveTo>
                  <a:pt x="0" y="0"/>
                </a:moveTo>
                <a:lnTo>
                  <a:pt x="1250303" y="0"/>
                </a:lnTo>
                <a:lnTo>
                  <a:pt x="1250303" y="1250302"/>
                </a:lnTo>
                <a:lnTo>
                  <a:pt x="0" y="12503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599946" y="1845384"/>
            <a:ext cx="1250303" cy="1250303"/>
          </a:xfrm>
          <a:custGeom>
            <a:avLst/>
            <a:gdLst/>
            <a:ahLst/>
            <a:cxnLst/>
            <a:rect r="r" b="b" t="t" l="l"/>
            <a:pathLst>
              <a:path h="1250303" w="1250303">
                <a:moveTo>
                  <a:pt x="0" y="0"/>
                </a:moveTo>
                <a:lnTo>
                  <a:pt x="1250302" y="0"/>
                </a:lnTo>
                <a:lnTo>
                  <a:pt x="1250302" y="1250302"/>
                </a:lnTo>
                <a:lnTo>
                  <a:pt x="0" y="12503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193997" y="1845384"/>
            <a:ext cx="1252247" cy="1250303"/>
          </a:xfrm>
          <a:custGeom>
            <a:avLst/>
            <a:gdLst/>
            <a:ahLst/>
            <a:cxnLst/>
            <a:rect r="r" b="b" t="t" l="l"/>
            <a:pathLst>
              <a:path h="1250303" w="1252247">
                <a:moveTo>
                  <a:pt x="0" y="0"/>
                </a:moveTo>
                <a:lnTo>
                  <a:pt x="1252247" y="0"/>
                </a:lnTo>
                <a:lnTo>
                  <a:pt x="1252247" y="1250302"/>
                </a:lnTo>
                <a:lnTo>
                  <a:pt x="0" y="125030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057" t="0" r="-2057" b="-4276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28918" y="1841565"/>
            <a:ext cx="1250303" cy="1250303"/>
          </a:xfrm>
          <a:custGeom>
            <a:avLst/>
            <a:gdLst/>
            <a:ahLst/>
            <a:cxnLst/>
            <a:rect r="r" b="b" t="t" l="l"/>
            <a:pathLst>
              <a:path h="1250303" w="1250303">
                <a:moveTo>
                  <a:pt x="0" y="0"/>
                </a:moveTo>
                <a:lnTo>
                  <a:pt x="1250302" y="0"/>
                </a:lnTo>
                <a:lnTo>
                  <a:pt x="1250302" y="1250303"/>
                </a:lnTo>
                <a:lnTo>
                  <a:pt x="0" y="125030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31368" y="485307"/>
            <a:ext cx="2695704" cy="736127"/>
          </a:xfrm>
          <a:custGeom>
            <a:avLst/>
            <a:gdLst/>
            <a:ahLst/>
            <a:cxnLst/>
            <a:rect r="r" b="b" t="t" l="l"/>
            <a:pathLst>
              <a:path h="736127" w="2695704">
                <a:moveTo>
                  <a:pt x="0" y="0"/>
                </a:moveTo>
                <a:lnTo>
                  <a:pt x="2695704" y="0"/>
                </a:lnTo>
                <a:lnTo>
                  <a:pt x="2695704" y="736127"/>
                </a:lnTo>
                <a:lnTo>
                  <a:pt x="0" y="73612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301103" y="693420"/>
            <a:ext cx="6098590" cy="585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5"/>
              </a:lnSpc>
            </a:pPr>
            <a:r>
              <a:rPr lang="en-US" sz="1704">
                <a:solidFill>
                  <a:srgbClr val="262C61"/>
                </a:solidFill>
                <a:latin typeface="Cocomat Pro"/>
                <a:ea typeface="Cocomat Pro"/>
                <a:cs typeface="Cocomat Pro"/>
                <a:sym typeface="Cocomat Pro"/>
              </a:rPr>
              <a:t>Vous souhaitez prendre rdv avec notre équipe de commerciaux pour en savoir davantage ?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02967" y="3225218"/>
            <a:ext cx="1276254" cy="626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5"/>
              </a:lnSpc>
            </a:pPr>
            <a:r>
              <a:rPr lang="en-US" sz="1204">
                <a:solidFill>
                  <a:srgbClr val="262C61"/>
                </a:solidFill>
                <a:latin typeface="Cocomat Pro"/>
                <a:ea typeface="Cocomat Pro"/>
                <a:cs typeface="Cocomat Pro"/>
                <a:sym typeface="Cocomat Pro"/>
              </a:rPr>
              <a:t>Occitanie</a:t>
            </a:r>
          </a:p>
          <a:p>
            <a:pPr algn="l">
              <a:lnSpc>
                <a:spcPts val="1685"/>
              </a:lnSpc>
            </a:pPr>
            <a:r>
              <a:rPr lang="en-US" sz="1204">
                <a:solidFill>
                  <a:srgbClr val="262C61"/>
                </a:solidFill>
                <a:latin typeface="Cocomat Pro"/>
                <a:ea typeface="Cocomat Pro"/>
                <a:cs typeface="Cocomat Pro"/>
                <a:sym typeface="Cocomat Pro"/>
              </a:rPr>
              <a:t>PACA</a:t>
            </a:r>
          </a:p>
          <a:p>
            <a:pPr algn="l">
              <a:lnSpc>
                <a:spcPts val="1685"/>
              </a:lnSpc>
            </a:pPr>
            <a:r>
              <a:rPr lang="en-US" sz="1204">
                <a:solidFill>
                  <a:srgbClr val="262C61"/>
                </a:solidFill>
                <a:latin typeface="Cocomat Pro"/>
                <a:ea typeface="Cocomat Pro"/>
                <a:cs typeface="Cocomat Pro"/>
                <a:sym typeface="Cocomat Pro"/>
              </a:rPr>
              <a:t>Corse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193997" y="3225218"/>
            <a:ext cx="1236710" cy="836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685"/>
              </a:lnSpc>
            </a:pPr>
            <a:r>
              <a:rPr lang="en-US" sz="1204">
                <a:solidFill>
                  <a:srgbClr val="262C61"/>
                </a:solidFill>
                <a:latin typeface="Cocomat Pro"/>
                <a:ea typeface="Cocomat Pro"/>
                <a:cs typeface="Cocomat Pro"/>
                <a:sym typeface="Cocomat Pro"/>
              </a:rPr>
              <a:t>Bretagne</a:t>
            </a:r>
          </a:p>
          <a:p>
            <a:pPr algn="just">
              <a:lnSpc>
                <a:spcPts val="1685"/>
              </a:lnSpc>
            </a:pPr>
            <a:r>
              <a:rPr lang="en-US" sz="1204">
                <a:solidFill>
                  <a:srgbClr val="262C61"/>
                </a:solidFill>
                <a:latin typeface="Cocomat Pro"/>
                <a:ea typeface="Cocomat Pro"/>
                <a:cs typeface="Cocomat Pro"/>
                <a:sym typeface="Cocomat Pro"/>
              </a:rPr>
              <a:t>Pays de la Loire</a:t>
            </a:r>
          </a:p>
          <a:p>
            <a:pPr algn="just">
              <a:lnSpc>
                <a:spcPts val="1685"/>
              </a:lnSpc>
            </a:pPr>
            <a:r>
              <a:rPr lang="en-US" sz="1204">
                <a:solidFill>
                  <a:srgbClr val="262C61"/>
                </a:solidFill>
                <a:latin typeface="Cocomat Pro"/>
                <a:ea typeface="Cocomat Pro"/>
                <a:cs typeface="Cocomat Pro"/>
                <a:sym typeface="Cocomat Pro"/>
              </a:rPr>
              <a:t>Normandie</a:t>
            </a:r>
          </a:p>
          <a:p>
            <a:pPr algn="just">
              <a:lnSpc>
                <a:spcPts val="1685"/>
              </a:lnSpc>
            </a:pPr>
            <a:r>
              <a:rPr lang="en-US" sz="1204">
                <a:solidFill>
                  <a:srgbClr val="262C61"/>
                </a:solidFill>
                <a:latin typeface="Cocomat Pro"/>
                <a:ea typeface="Cocomat Pro"/>
                <a:cs typeface="Cocomat Pro"/>
                <a:sym typeface="Cocomat Pro"/>
              </a:rPr>
              <a:t>Hauts de France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794106" y="3224303"/>
            <a:ext cx="1107106" cy="462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5"/>
              </a:lnSpc>
            </a:pPr>
            <a:r>
              <a:rPr lang="en-US" sz="1304">
                <a:solidFill>
                  <a:srgbClr val="262C61"/>
                </a:solidFill>
                <a:latin typeface="Cocomat Pro"/>
                <a:ea typeface="Cocomat Pro"/>
                <a:cs typeface="Cocomat Pro"/>
                <a:sym typeface="Cocomat Pro"/>
              </a:rPr>
              <a:t>Nouvelle Aquitaine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995421" y="3225218"/>
            <a:ext cx="1236710" cy="417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685"/>
              </a:lnSpc>
            </a:pPr>
            <a:r>
              <a:rPr lang="en-US" sz="1204">
                <a:solidFill>
                  <a:srgbClr val="262C61"/>
                </a:solidFill>
                <a:latin typeface="Cocomat Pro"/>
                <a:ea typeface="Cocomat Pro"/>
                <a:cs typeface="Cocomat Pro"/>
                <a:sym typeface="Cocomat Pro"/>
              </a:rPr>
              <a:t>Auvergne</a:t>
            </a:r>
          </a:p>
          <a:p>
            <a:pPr algn="just">
              <a:lnSpc>
                <a:spcPts val="1685"/>
              </a:lnSpc>
            </a:pPr>
            <a:r>
              <a:rPr lang="en-US" sz="1204">
                <a:solidFill>
                  <a:srgbClr val="262C61"/>
                </a:solidFill>
                <a:latin typeface="Cocomat Pro"/>
                <a:ea typeface="Cocomat Pro"/>
                <a:cs typeface="Cocomat Pro"/>
                <a:sym typeface="Cocomat Pro"/>
              </a:rPr>
              <a:t>Rhône Alpes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599946" y="3289655"/>
            <a:ext cx="2140062" cy="836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685"/>
              </a:lnSpc>
            </a:pPr>
            <a:r>
              <a:rPr lang="en-US" sz="1204">
                <a:solidFill>
                  <a:srgbClr val="262C61"/>
                </a:solidFill>
                <a:latin typeface="Cocomat Pro"/>
                <a:ea typeface="Cocomat Pro"/>
                <a:cs typeface="Cocomat Pro"/>
                <a:sym typeface="Cocomat Pro"/>
              </a:rPr>
              <a:t>Bourgogne France Comté</a:t>
            </a:r>
          </a:p>
          <a:p>
            <a:pPr algn="just">
              <a:lnSpc>
                <a:spcPts val="1685"/>
              </a:lnSpc>
            </a:pPr>
            <a:r>
              <a:rPr lang="en-US" sz="1204">
                <a:solidFill>
                  <a:srgbClr val="262C61"/>
                </a:solidFill>
                <a:latin typeface="Cocomat Pro"/>
                <a:ea typeface="Cocomat Pro"/>
                <a:cs typeface="Cocomat Pro"/>
                <a:sym typeface="Cocomat Pro"/>
              </a:rPr>
              <a:t>Centre Val de Loire</a:t>
            </a:r>
          </a:p>
          <a:p>
            <a:pPr algn="just">
              <a:lnSpc>
                <a:spcPts val="1685"/>
              </a:lnSpc>
            </a:pPr>
            <a:r>
              <a:rPr lang="en-US" sz="1204">
                <a:solidFill>
                  <a:srgbClr val="262C61"/>
                </a:solidFill>
                <a:latin typeface="Cocomat Pro"/>
                <a:ea typeface="Cocomat Pro"/>
                <a:cs typeface="Cocomat Pro"/>
                <a:sym typeface="Cocomat Pro"/>
              </a:rPr>
              <a:t>Grand Est</a:t>
            </a:r>
          </a:p>
          <a:p>
            <a:pPr algn="just">
              <a:lnSpc>
                <a:spcPts val="1685"/>
              </a:lnSpc>
            </a:pPr>
            <a:r>
              <a:rPr lang="en-US" sz="1204">
                <a:solidFill>
                  <a:srgbClr val="262C61"/>
                </a:solidFill>
                <a:latin typeface="Cocomat Pro"/>
                <a:ea typeface="Cocomat Pro"/>
                <a:cs typeface="Cocomat Pro"/>
                <a:sym typeface="Cocomat Pro"/>
              </a:rPr>
              <a:t>Ile de France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31368" y="5000133"/>
            <a:ext cx="1276254" cy="207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5"/>
              </a:lnSpc>
            </a:pPr>
            <a:r>
              <a:rPr lang="en-US" sz="1204" u="sng">
                <a:solidFill>
                  <a:srgbClr val="262C61"/>
                </a:solidFill>
                <a:latin typeface="Cocomat Pro"/>
                <a:ea typeface="Cocomat Pro"/>
                <a:cs typeface="Cocomat Pro"/>
                <a:sym typeface="Cocomat Pro"/>
                <a:hlinkClick r:id="rId8" tooltip="https://calendly.com/app/scheduling/meeting_types/user/me"/>
              </a:rPr>
              <a:t>lien calendly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193997" y="5000133"/>
            <a:ext cx="1276254" cy="207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5"/>
              </a:lnSpc>
            </a:pPr>
            <a:r>
              <a:rPr lang="en-US" sz="1204" u="sng">
                <a:solidFill>
                  <a:srgbClr val="262C61"/>
                </a:solidFill>
                <a:latin typeface="Cocomat Pro"/>
                <a:ea typeface="Cocomat Pro"/>
                <a:cs typeface="Cocomat Pro"/>
                <a:sym typeface="Cocomat Pro"/>
                <a:hlinkClick r:id="rId9" tooltip="https://urlz.fr/uFEI"/>
              </a:rPr>
              <a:t>lien calendly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981683" y="5000133"/>
            <a:ext cx="1276254" cy="207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5"/>
              </a:lnSpc>
            </a:pPr>
            <a:r>
              <a:rPr lang="en-US" sz="1204" u="sng">
                <a:solidFill>
                  <a:srgbClr val="262C61"/>
                </a:solidFill>
                <a:latin typeface="Cocomat Pro"/>
                <a:ea typeface="Cocomat Pro"/>
                <a:cs typeface="Cocomat Pro"/>
                <a:sym typeface="Cocomat Pro"/>
                <a:hlinkClick r:id="rId10" tooltip="https://calendly.com/z-guffroy-organisetonseminaire/appel-de-decouverte-zoe"/>
              </a:rPr>
              <a:t>lien calendly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817696" y="5000133"/>
            <a:ext cx="1276254" cy="207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5"/>
              </a:lnSpc>
            </a:pPr>
            <a:r>
              <a:rPr lang="en-US" sz="1204" u="sng">
                <a:solidFill>
                  <a:srgbClr val="262C61"/>
                </a:solidFill>
                <a:latin typeface="Cocomat Pro"/>
                <a:ea typeface="Cocomat Pro"/>
                <a:cs typeface="Cocomat Pro"/>
                <a:sym typeface="Cocomat Pro"/>
                <a:hlinkClick r:id="rId11" tooltip="https://bit.ly/calendly-lurthaler"/>
              </a:rPr>
              <a:t>lien calendly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55925" y="5000133"/>
            <a:ext cx="1276254" cy="207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5"/>
              </a:lnSpc>
            </a:pPr>
            <a:r>
              <a:rPr lang="en-US" sz="1204" u="sng">
                <a:solidFill>
                  <a:srgbClr val="262C61"/>
                </a:solidFill>
                <a:latin typeface="Cocomat Pro"/>
                <a:ea typeface="Cocomat Pro"/>
                <a:cs typeface="Cocomat Pro"/>
                <a:sym typeface="Cocomat Pro"/>
                <a:hlinkClick r:id="rId12" tooltip="https://urlz.fr/uLUG"/>
              </a:rPr>
              <a:t>lien calendly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06311" y="4659244"/>
            <a:ext cx="1469564" cy="207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5"/>
              </a:lnSpc>
            </a:pPr>
            <a:r>
              <a:rPr lang="en-US" sz="1204">
                <a:solidFill>
                  <a:srgbClr val="262C61"/>
                </a:solidFill>
                <a:latin typeface="Cocomat Pro"/>
                <a:ea typeface="Cocomat Pro"/>
                <a:cs typeface="Cocomat Pro"/>
                <a:sym typeface="Cocomat Pro"/>
              </a:rPr>
              <a:t>Prenez rdv en visio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193997" y="4659244"/>
            <a:ext cx="1469564" cy="207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5"/>
              </a:lnSpc>
            </a:pPr>
            <a:r>
              <a:rPr lang="en-US" sz="1204">
                <a:solidFill>
                  <a:srgbClr val="262C61"/>
                </a:solidFill>
                <a:latin typeface="Cocomat Pro"/>
                <a:ea typeface="Cocomat Pro"/>
                <a:cs typeface="Cocomat Pro"/>
                <a:sym typeface="Cocomat Pro"/>
              </a:rPr>
              <a:t>Prenez rdv en visio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981683" y="4659244"/>
            <a:ext cx="1469564" cy="207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5"/>
              </a:lnSpc>
            </a:pPr>
            <a:r>
              <a:rPr lang="en-US" sz="1204">
                <a:solidFill>
                  <a:srgbClr val="262C61"/>
                </a:solidFill>
                <a:latin typeface="Cocomat Pro"/>
                <a:ea typeface="Cocomat Pro"/>
                <a:cs typeface="Cocomat Pro"/>
                <a:sym typeface="Cocomat Pro"/>
              </a:rPr>
              <a:t>Prenez rdv en visio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769368" y="4659244"/>
            <a:ext cx="1469564" cy="207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5"/>
              </a:lnSpc>
            </a:pPr>
            <a:r>
              <a:rPr lang="en-US" sz="1204">
                <a:solidFill>
                  <a:srgbClr val="262C61"/>
                </a:solidFill>
                <a:latin typeface="Cocomat Pro"/>
                <a:ea typeface="Cocomat Pro"/>
                <a:cs typeface="Cocomat Pro"/>
                <a:sym typeface="Cocomat Pro"/>
              </a:rPr>
              <a:t>Prenez rdv en visio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557054" y="4659244"/>
            <a:ext cx="1469564" cy="207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5"/>
              </a:lnSpc>
            </a:pPr>
            <a:r>
              <a:rPr lang="en-US" sz="1204">
                <a:solidFill>
                  <a:srgbClr val="262C61"/>
                </a:solidFill>
                <a:latin typeface="Cocomat Pro"/>
                <a:ea typeface="Cocomat Pro"/>
                <a:cs typeface="Cocomat Pro"/>
                <a:sym typeface="Cocomat Pro"/>
              </a:rPr>
              <a:t>Prenez rdv en visio 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725247" y="1845384"/>
            <a:ext cx="1250303" cy="1250303"/>
          </a:xfrm>
          <a:custGeom>
            <a:avLst/>
            <a:gdLst/>
            <a:ahLst/>
            <a:cxnLst/>
            <a:rect r="r" b="b" t="t" l="l"/>
            <a:pathLst>
              <a:path h="1250303" w="1250303">
                <a:moveTo>
                  <a:pt x="0" y="0"/>
                </a:moveTo>
                <a:lnTo>
                  <a:pt x="1250302" y="0"/>
                </a:lnTo>
                <a:lnTo>
                  <a:pt x="1250302" y="1250302"/>
                </a:lnTo>
                <a:lnTo>
                  <a:pt x="0" y="12503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960594" y="1845384"/>
            <a:ext cx="1250303" cy="1250303"/>
          </a:xfrm>
          <a:custGeom>
            <a:avLst/>
            <a:gdLst/>
            <a:ahLst/>
            <a:cxnLst/>
            <a:rect r="r" b="b" t="t" l="l"/>
            <a:pathLst>
              <a:path h="1250303" w="1250303">
                <a:moveTo>
                  <a:pt x="0" y="0"/>
                </a:moveTo>
                <a:lnTo>
                  <a:pt x="1250303" y="0"/>
                </a:lnTo>
                <a:lnTo>
                  <a:pt x="1250303" y="1250302"/>
                </a:lnTo>
                <a:lnTo>
                  <a:pt x="0" y="12503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599946" y="1845384"/>
            <a:ext cx="1250303" cy="1250303"/>
          </a:xfrm>
          <a:custGeom>
            <a:avLst/>
            <a:gdLst/>
            <a:ahLst/>
            <a:cxnLst/>
            <a:rect r="r" b="b" t="t" l="l"/>
            <a:pathLst>
              <a:path h="1250303" w="1250303">
                <a:moveTo>
                  <a:pt x="0" y="0"/>
                </a:moveTo>
                <a:lnTo>
                  <a:pt x="1250302" y="0"/>
                </a:lnTo>
                <a:lnTo>
                  <a:pt x="1250302" y="1250302"/>
                </a:lnTo>
                <a:lnTo>
                  <a:pt x="0" y="12503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193997" y="1845384"/>
            <a:ext cx="1252247" cy="1250303"/>
          </a:xfrm>
          <a:custGeom>
            <a:avLst/>
            <a:gdLst/>
            <a:ahLst/>
            <a:cxnLst/>
            <a:rect r="r" b="b" t="t" l="l"/>
            <a:pathLst>
              <a:path h="1250303" w="1252247">
                <a:moveTo>
                  <a:pt x="0" y="0"/>
                </a:moveTo>
                <a:lnTo>
                  <a:pt x="1252247" y="0"/>
                </a:lnTo>
                <a:lnTo>
                  <a:pt x="1252247" y="1250302"/>
                </a:lnTo>
                <a:lnTo>
                  <a:pt x="0" y="125030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057" t="0" r="-2057" b="-4276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28918" y="1841565"/>
            <a:ext cx="1250303" cy="1250303"/>
          </a:xfrm>
          <a:custGeom>
            <a:avLst/>
            <a:gdLst/>
            <a:ahLst/>
            <a:cxnLst/>
            <a:rect r="r" b="b" t="t" l="l"/>
            <a:pathLst>
              <a:path h="1250303" w="1250303">
                <a:moveTo>
                  <a:pt x="0" y="0"/>
                </a:moveTo>
                <a:lnTo>
                  <a:pt x="1250302" y="0"/>
                </a:lnTo>
                <a:lnTo>
                  <a:pt x="1250302" y="1250303"/>
                </a:lnTo>
                <a:lnTo>
                  <a:pt x="0" y="125030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31368" y="485307"/>
            <a:ext cx="2695704" cy="736127"/>
          </a:xfrm>
          <a:custGeom>
            <a:avLst/>
            <a:gdLst/>
            <a:ahLst/>
            <a:cxnLst/>
            <a:rect r="r" b="b" t="t" l="l"/>
            <a:pathLst>
              <a:path h="736127" w="2695704">
                <a:moveTo>
                  <a:pt x="0" y="0"/>
                </a:moveTo>
                <a:lnTo>
                  <a:pt x="2695704" y="0"/>
                </a:lnTo>
                <a:lnTo>
                  <a:pt x="2695704" y="736127"/>
                </a:lnTo>
                <a:lnTo>
                  <a:pt x="0" y="73612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301103" y="693420"/>
            <a:ext cx="6098590" cy="585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5"/>
              </a:lnSpc>
            </a:pPr>
            <a:r>
              <a:rPr lang="en-US" sz="1704">
                <a:solidFill>
                  <a:srgbClr val="262C61"/>
                </a:solidFill>
                <a:latin typeface="Cocomat Pro"/>
                <a:ea typeface="Cocomat Pro"/>
                <a:cs typeface="Cocomat Pro"/>
                <a:sym typeface="Cocomat Pro"/>
              </a:rPr>
              <a:t>Vous souhaitez prendre rdv avec notre équipe de commerciaux pour en savoir davantage ?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02967" y="3225218"/>
            <a:ext cx="1276254" cy="626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5"/>
              </a:lnSpc>
            </a:pPr>
            <a:r>
              <a:rPr lang="en-US" sz="1204">
                <a:solidFill>
                  <a:srgbClr val="262C61"/>
                </a:solidFill>
                <a:latin typeface="Cocomat Pro"/>
                <a:ea typeface="Cocomat Pro"/>
                <a:cs typeface="Cocomat Pro"/>
                <a:sym typeface="Cocomat Pro"/>
              </a:rPr>
              <a:t>Occitanie</a:t>
            </a:r>
          </a:p>
          <a:p>
            <a:pPr algn="l">
              <a:lnSpc>
                <a:spcPts val="1685"/>
              </a:lnSpc>
            </a:pPr>
            <a:r>
              <a:rPr lang="en-US" sz="1204">
                <a:solidFill>
                  <a:srgbClr val="262C61"/>
                </a:solidFill>
                <a:latin typeface="Cocomat Pro"/>
                <a:ea typeface="Cocomat Pro"/>
                <a:cs typeface="Cocomat Pro"/>
                <a:sym typeface="Cocomat Pro"/>
              </a:rPr>
              <a:t>PACA</a:t>
            </a:r>
          </a:p>
          <a:p>
            <a:pPr algn="l">
              <a:lnSpc>
                <a:spcPts val="1685"/>
              </a:lnSpc>
            </a:pPr>
            <a:r>
              <a:rPr lang="en-US" sz="1204">
                <a:solidFill>
                  <a:srgbClr val="262C61"/>
                </a:solidFill>
                <a:latin typeface="Cocomat Pro"/>
                <a:ea typeface="Cocomat Pro"/>
                <a:cs typeface="Cocomat Pro"/>
                <a:sym typeface="Cocomat Pro"/>
              </a:rPr>
              <a:t>Corse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193997" y="3225218"/>
            <a:ext cx="1236710" cy="836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685"/>
              </a:lnSpc>
            </a:pPr>
            <a:r>
              <a:rPr lang="en-US" sz="1204">
                <a:solidFill>
                  <a:srgbClr val="262C61"/>
                </a:solidFill>
                <a:latin typeface="Cocomat Pro"/>
                <a:ea typeface="Cocomat Pro"/>
                <a:cs typeface="Cocomat Pro"/>
                <a:sym typeface="Cocomat Pro"/>
              </a:rPr>
              <a:t>Bretagne</a:t>
            </a:r>
          </a:p>
          <a:p>
            <a:pPr algn="just">
              <a:lnSpc>
                <a:spcPts val="1685"/>
              </a:lnSpc>
            </a:pPr>
            <a:r>
              <a:rPr lang="en-US" sz="1204">
                <a:solidFill>
                  <a:srgbClr val="262C61"/>
                </a:solidFill>
                <a:latin typeface="Cocomat Pro"/>
                <a:ea typeface="Cocomat Pro"/>
                <a:cs typeface="Cocomat Pro"/>
                <a:sym typeface="Cocomat Pro"/>
              </a:rPr>
              <a:t>Pays de la Loire</a:t>
            </a:r>
          </a:p>
          <a:p>
            <a:pPr algn="just">
              <a:lnSpc>
                <a:spcPts val="1685"/>
              </a:lnSpc>
            </a:pPr>
            <a:r>
              <a:rPr lang="en-US" sz="1204">
                <a:solidFill>
                  <a:srgbClr val="262C61"/>
                </a:solidFill>
                <a:latin typeface="Cocomat Pro"/>
                <a:ea typeface="Cocomat Pro"/>
                <a:cs typeface="Cocomat Pro"/>
                <a:sym typeface="Cocomat Pro"/>
              </a:rPr>
              <a:t>Normandie</a:t>
            </a:r>
          </a:p>
          <a:p>
            <a:pPr algn="just">
              <a:lnSpc>
                <a:spcPts val="1685"/>
              </a:lnSpc>
            </a:pPr>
            <a:r>
              <a:rPr lang="en-US" sz="1204">
                <a:solidFill>
                  <a:srgbClr val="262C61"/>
                </a:solidFill>
                <a:latin typeface="Cocomat Pro"/>
                <a:ea typeface="Cocomat Pro"/>
                <a:cs typeface="Cocomat Pro"/>
                <a:sym typeface="Cocomat Pro"/>
              </a:rPr>
              <a:t>Hauts de France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794106" y="3224303"/>
            <a:ext cx="1107106" cy="462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5"/>
              </a:lnSpc>
            </a:pPr>
            <a:r>
              <a:rPr lang="en-US" sz="1304">
                <a:solidFill>
                  <a:srgbClr val="262C61"/>
                </a:solidFill>
                <a:latin typeface="Cocomat Pro"/>
                <a:ea typeface="Cocomat Pro"/>
                <a:cs typeface="Cocomat Pro"/>
                <a:sym typeface="Cocomat Pro"/>
              </a:rPr>
              <a:t>Nouvelle Aquitaine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995421" y="3225218"/>
            <a:ext cx="1236710" cy="417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685"/>
              </a:lnSpc>
            </a:pPr>
            <a:r>
              <a:rPr lang="en-US" sz="1204">
                <a:solidFill>
                  <a:srgbClr val="262C61"/>
                </a:solidFill>
                <a:latin typeface="Cocomat Pro"/>
                <a:ea typeface="Cocomat Pro"/>
                <a:cs typeface="Cocomat Pro"/>
                <a:sym typeface="Cocomat Pro"/>
              </a:rPr>
              <a:t>Auvergne</a:t>
            </a:r>
          </a:p>
          <a:p>
            <a:pPr algn="just">
              <a:lnSpc>
                <a:spcPts val="1685"/>
              </a:lnSpc>
            </a:pPr>
            <a:r>
              <a:rPr lang="en-US" sz="1204">
                <a:solidFill>
                  <a:srgbClr val="262C61"/>
                </a:solidFill>
                <a:latin typeface="Cocomat Pro"/>
                <a:ea typeface="Cocomat Pro"/>
                <a:cs typeface="Cocomat Pro"/>
                <a:sym typeface="Cocomat Pro"/>
              </a:rPr>
              <a:t>Rhône Alpes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599946" y="3289655"/>
            <a:ext cx="2140062" cy="836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685"/>
              </a:lnSpc>
            </a:pPr>
            <a:r>
              <a:rPr lang="en-US" sz="1204">
                <a:solidFill>
                  <a:srgbClr val="262C61"/>
                </a:solidFill>
                <a:latin typeface="Cocomat Pro"/>
                <a:ea typeface="Cocomat Pro"/>
                <a:cs typeface="Cocomat Pro"/>
                <a:sym typeface="Cocomat Pro"/>
              </a:rPr>
              <a:t>Bourgogne France Comté</a:t>
            </a:r>
          </a:p>
          <a:p>
            <a:pPr algn="just">
              <a:lnSpc>
                <a:spcPts val="1685"/>
              </a:lnSpc>
            </a:pPr>
            <a:r>
              <a:rPr lang="en-US" sz="1204">
                <a:solidFill>
                  <a:srgbClr val="262C61"/>
                </a:solidFill>
                <a:latin typeface="Cocomat Pro"/>
                <a:ea typeface="Cocomat Pro"/>
                <a:cs typeface="Cocomat Pro"/>
                <a:sym typeface="Cocomat Pro"/>
              </a:rPr>
              <a:t>Centre Val de Loire</a:t>
            </a:r>
          </a:p>
          <a:p>
            <a:pPr algn="just">
              <a:lnSpc>
                <a:spcPts val="1685"/>
              </a:lnSpc>
            </a:pPr>
            <a:r>
              <a:rPr lang="en-US" sz="1204">
                <a:solidFill>
                  <a:srgbClr val="262C61"/>
                </a:solidFill>
                <a:latin typeface="Cocomat Pro"/>
                <a:ea typeface="Cocomat Pro"/>
                <a:cs typeface="Cocomat Pro"/>
                <a:sym typeface="Cocomat Pro"/>
              </a:rPr>
              <a:t>Grand Est</a:t>
            </a:r>
          </a:p>
          <a:p>
            <a:pPr algn="just">
              <a:lnSpc>
                <a:spcPts val="1685"/>
              </a:lnSpc>
            </a:pPr>
            <a:r>
              <a:rPr lang="en-US" sz="1204">
                <a:solidFill>
                  <a:srgbClr val="262C61"/>
                </a:solidFill>
                <a:latin typeface="Cocomat Pro"/>
                <a:ea typeface="Cocomat Pro"/>
                <a:cs typeface="Cocomat Pro"/>
                <a:sym typeface="Cocomat Pro"/>
              </a:rPr>
              <a:t>Ile de France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31368" y="5000133"/>
            <a:ext cx="1276254" cy="207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5"/>
              </a:lnSpc>
            </a:pPr>
            <a:r>
              <a:rPr lang="en-US" sz="1204" u="sng">
                <a:solidFill>
                  <a:srgbClr val="262C61"/>
                </a:solidFill>
                <a:latin typeface="Cocomat Pro"/>
                <a:ea typeface="Cocomat Pro"/>
                <a:cs typeface="Cocomat Pro"/>
                <a:sym typeface="Cocomat Pro"/>
                <a:hlinkClick r:id="rId8" tooltip="https://calendly.com/app/scheduling/meeting_types/user/me"/>
              </a:rPr>
              <a:t>lien calendly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193997" y="5000133"/>
            <a:ext cx="1276254" cy="207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5"/>
              </a:lnSpc>
            </a:pPr>
            <a:r>
              <a:rPr lang="en-US" sz="1204" u="sng">
                <a:solidFill>
                  <a:srgbClr val="262C61"/>
                </a:solidFill>
                <a:latin typeface="Cocomat Pro"/>
                <a:ea typeface="Cocomat Pro"/>
                <a:cs typeface="Cocomat Pro"/>
                <a:sym typeface="Cocomat Pro"/>
                <a:hlinkClick r:id="rId9" tooltip="https://urlz.fr/uFEI"/>
              </a:rPr>
              <a:t>lien calendly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981683" y="5000133"/>
            <a:ext cx="1276254" cy="207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5"/>
              </a:lnSpc>
            </a:pPr>
            <a:r>
              <a:rPr lang="en-US" sz="1204" u="sng">
                <a:solidFill>
                  <a:srgbClr val="262C61"/>
                </a:solidFill>
                <a:latin typeface="Cocomat Pro"/>
                <a:ea typeface="Cocomat Pro"/>
                <a:cs typeface="Cocomat Pro"/>
                <a:sym typeface="Cocomat Pro"/>
                <a:hlinkClick r:id="rId10" tooltip="https://calendly.com/z-guffroy-organisetonseminaire/appel-de-decouverte-zoe"/>
              </a:rPr>
              <a:t>lien calendly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817696" y="5000133"/>
            <a:ext cx="1276254" cy="207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5"/>
              </a:lnSpc>
            </a:pPr>
            <a:r>
              <a:rPr lang="en-US" sz="1204" u="sng">
                <a:solidFill>
                  <a:srgbClr val="262C61"/>
                </a:solidFill>
                <a:latin typeface="Cocomat Pro"/>
                <a:ea typeface="Cocomat Pro"/>
                <a:cs typeface="Cocomat Pro"/>
                <a:sym typeface="Cocomat Pro"/>
                <a:hlinkClick r:id="rId11" tooltip="https://bit.ly/calendly-lurthaler"/>
              </a:rPr>
              <a:t>lien calendly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55925" y="5000133"/>
            <a:ext cx="1276254" cy="207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5"/>
              </a:lnSpc>
            </a:pPr>
            <a:r>
              <a:rPr lang="en-US" sz="1204" u="sng">
                <a:solidFill>
                  <a:srgbClr val="262C61"/>
                </a:solidFill>
                <a:latin typeface="Cocomat Pro"/>
                <a:ea typeface="Cocomat Pro"/>
                <a:cs typeface="Cocomat Pro"/>
                <a:sym typeface="Cocomat Pro"/>
                <a:hlinkClick r:id="rId12" tooltip="https://urlz.fr/uLUG"/>
              </a:rPr>
              <a:t>lien calendly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06311" y="4659244"/>
            <a:ext cx="1469564" cy="207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5"/>
              </a:lnSpc>
            </a:pPr>
            <a:r>
              <a:rPr lang="en-US" sz="1204">
                <a:solidFill>
                  <a:srgbClr val="262C61"/>
                </a:solidFill>
                <a:latin typeface="Cocomat Pro"/>
                <a:ea typeface="Cocomat Pro"/>
                <a:cs typeface="Cocomat Pro"/>
                <a:sym typeface="Cocomat Pro"/>
              </a:rPr>
              <a:t>Prenez rdv en visio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193997" y="4659244"/>
            <a:ext cx="1469564" cy="207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5"/>
              </a:lnSpc>
            </a:pPr>
            <a:r>
              <a:rPr lang="en-US" sz="1204">
                <a:solidFill>
                  <a:srgbClr val="262C61"/>
                </a:solidFill>
                <a:latin typeface="Cocomat Pro"/>
                <a:ea typeface="Cocomat Pro"/>
                <a:cs typeface="Cocomat Pro"/>
                <a:sym typeface="Cocomat Pro"/>
              </a:rPr>
              <a:t>Prenez rdv en visio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981683" y="4659244"/>
            <a:ext cx="1469564" cy="207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5"/>
              </a:lnSpc>
            </a:pPr>
            <a:r>
              <a:rPr lang="en-US" sz="1204">
                <a:solidFill>
                  <a:srgbClr val="262C61"/>
                </a:solidFill>
                <a:latin typeface="Cocomat Pro"/>
                <a:ea typeface="Cocomat Pro"/>
                <a:cs typeface="Cocomat Pro"/>
                <a:sym typeface="Cocomat Pro"/>
              </a:rPr>
              <a:t>Prenez rdv en visio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769368" y="4659244"/>
            <a:ext cx="1469564" cy="207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5"/>
              </a:lnSpc>
            </a:pPr>
            <a:r>
              <a:rPr lang="en-US" sz="1204">
                <a:solidFill>
                  <a:srgbClr val="262C61"/>
                </a:solidFill>
                <a:latin typeface="Cocomat Pro"/>
                <a:ea typeface="Cocomat Pro"/>
                <a:cs typeface="Cocomat Pro"/>
                <a:sym typeface="Cocomat Pro"/>
              </a:rPr>
              <a:t>Prenez rdv en visio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557054" y="4659244"/>
            <a:ext cx="1469564" cy="207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5"/>
              </a:lnSpc>
            </a:pPr>
            <a:r>
              <a:rPr lang="en-US" sz="1204">
                <a:solidFill>
                  <a:srgbClr val="262C61"/>
                </a:solidFill>
                <a:latin typeface="Cocomat Pro"/>
                <a:ea typeface="Cocomat Pro"/>
                <a:cs typeface="Cocomat Pro"/>
                <a:sym typeface="Cocomat Pro"/>
              </a:rPr>
              <a:t>Prenez rdv en visio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DAG90HJ9OL4</dc:identifier>
  <dcterms:modified xsi:type="dcterms:W3CDTF">2011-08-01T06:04:30Z</dcterms:modified>
  <cp:revision>1</cp:revision>
  <dc:title>Proposition Happy House</dc:title>
</cp:coreProperties>
</file>